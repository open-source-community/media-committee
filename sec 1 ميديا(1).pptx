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Bernoru" charset="1" panose="00000A00000000000000"/>
      <p:regular r:id="rId30"/>
    </p:embeddedFont>
    <p:embeddedFont>
      <p:font typeface="Layla Thuluth" charset="1" panose="02000503000000000000"/>
      <p:regular r:id="rId31"/>
    </p:embeddedFont>
    <p:embeddedFont>
      <p:font typeface="Glacial Indifference" charset="1" panose="00000000000000000000"/>
      <p:regular r:id="rId32"/>
    </p:embeddedFont>
    <p:embeddedFont>
      <p:font typeface="Glacial Indifference Bold" charset="1" panose="00000800000000000000"/>
      <p:regular r:id="rId33"/>
    </p:embeddedFont>
    <p:embeddedFont>
      <p:font typeface="Schoolbell" charset="1" panose="02000000000000000000"/>
      <p:regular r:id="rId34"/>
    </p:embeddedFont>
    <p:embeddedFont>
      <p:font typeface="Sukar Bold" charset="1" panose="02000500000000000000"/>
      <p:regular r:id="rId35"/>
    </p:embeddedFont>
    <p:embeddedFont>
      <p:font typeface="Mirza Regular Bold" charset="1" panose="00000600000000000000"/>
      <p:regular r:id="rId36"/>
    </p:embeddedFont>
    <p:embeddedFont>
      <p:font typeface="Ara Hamah 1964 Bold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79.sv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2150" y="6483540"/>
            <a:ext cx="6925380" cy="168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6"/>
              </a:lnSpc>
            </a:pPr>
            <a:r>
              <a:rPr lang="en-US" sz="6516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session # 1 </a:t>
            </a:r>
          </a:p>
          <a:p>
            <a:pPr algn="ctr">
              <a:lnSpc>
                <a:spcPts val="6516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1372176">
            <a:off x="14272888" y="7813655"/>
            <a:ext cx="1202707" cy="3537373"/>
          </a:xfrm>
          <a:custGeom>
            <a:avLst/>
            <a:gdLst/>
            <a:ahLst/>
            <a:cxnLst/>
            <a:rect r="r" b="b" t="t" l="l"/>
            <a:pathLst>
              <a:path h="3537373" w="1202707">
                <a:moveTo>
                  <a:pt x="0" y="0"/>
                </a:moveTo>
                <a:lnTo>
                  <a:pt x="1202707" y="0"/>
                </a:lnTo>
                <a:lnTo>
                  <a:pt x="1202707" y="3537373"/>
                </a:lnTo>
                <a:lnTo>
                  <a:pt x="0" y="353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831056">
            <a:off x="-864150" y="-249231"/>
            <a:ext cx="6309624" cy="3590749"/>
          </a:xfrm>
          <a:custGeom>
            <a:avLst/>
            <a:gdLst/>
            <a:ahLst/>
            <a:cxnLst/>
            <a:rect r="r" b="b" t="t" l="l"/>
            <a:pathLst>
              <a:path h="3590749" w="6309624">
                <a:moveTo>
                  <a:pt x="6309624" y="0"/>
                </a:moveTo>
                <a:lnTo>
                  <a:pt x="0" y="0"/>
                </a:lnTo>
                <a:lnTo>
                  <a:pt x="0" y="3590749"/>
                </a:lnTo>
                <a:lnTo>
                  <a:pt x="6309624" y="3590749"/>
                </a:lnTo>
                <a:lnTo>
                  <a:pt x="63096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85041">
            <a:off x="-1071768" y="4989927"/>
            <a:ext cx="4962392" cy="5592860"/>
          </a:xfrm>
          <a:custGeom>
            <a:avLst/>
            <a:gdLst/>
            <a:ahLst/>
            <a:cxnLst/>
            <a:rect r="r" b="b" t="t" l="l"/>
            <a:pathLst>
              <a:path h="5592860" w="4962392">
                <a:moveTo>
                  <a:pt x="0" y="0"/>
                </a:moveTo>
                <a:lnTo>
                  <a:pt x="4962392" y="0"/>
                </a:lnTo>
                <a:lnTo>
                  <a:pt x="4962392" y="5592861"/>
                </a:lnTo>
                <a:lnTo>
                  <a:pt x="0" y="55928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33543">
            <a:off x="14873741" y="-223244"/>
            <a:ext cx="5881245" cy="10782283"/>
          </a:xfrm>
          <a:custGeom>
            <a:avLst/>
            <a:gdLst/>
            <a:ahLst/>
            <a:cxnLst/>
            <a:rect r="r" b="b" t="t" l="l"/>
            <a:pathLst>
              <a:path h="10782283" w="5881245">
                <a:moveTo>
                  <a:pt x="0" y="0"/>
                </a:moveTo>
                <a:lnTo>
                  <a:pt x="5881246" y="0"/>
                </a:lnTo>
                <a:lnTo>
                  <a:pt x="5881246" y="10782283"/>
                </a:lnTo>
                <a:lnTo>
                  <a:pt x="0" y="10782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45612" y="-3441343"/>
            <a:ext cx="1623600" cy="6378429"/>
          </a:xfrm>
          <a:custGeom>
            <a:avLst/>
            <a:gdLst/>
            <a:ahLst/>
            <a:cxnLst/>
            <a:rect r="r" b="b" t="t" l="l"/>
            <a:pathLst>
              <a:path h="6378429" w="1623600">
                <a:moveTo>
                  <a:pt x="0" y="0"/>
                </a:moveTo>
                <a:lnTo>
                  <a:pt x="1623601" y="0"/>
                </a:lnTo>
                <a:lnTo>
                  <a:pt x="1623601" y="6378429"/>
                </a:lnTo>
                <a:lnTo>
                  <a:pt x="0" y="6378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99251">
            <a:off x="4276987" y="8270381"/>
            <a:ext cx="2393375" cy="3226363"/>
          </a:xfrm>
          <a:custGeom>
            <a:avLst/>
            <a:gdLst/>
            <a:ahLst/>
            <a:cxnLst/>
            <a:rect r="r" b="b" t="t" l="l"/>
            <a:pathLst>
              <a:path h="3226363" w="2393375">
                <a:moveTo>
                  <a:pt x="0" y="0"/>
                </a:moveTo>
                <a:lnTo>
                  <a:pt x="2393375" y="0"/>
                </a:lnTo>
                <a:lnTo>
                  <a:pt x="2393375" y="3226363"/>
                </a:lnTo>
                <a:lnTo>
                  <a:pt x="0" y="3226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21896">
            <a:off x="9330219" y="8380179"/>
            <a:ext cx="3170287" cy="3277553"/>
          </a:xfrm>
          <a:custGeom>
            <a:avLst/>
            <a:gdLst/>
            <a:ahLst/>
            <a:cxnLst/>
            <a:rect r="r" b="b" t="t" l="l"/>
            <a:pathLst>
              <a:path h="3277553" w="3170287">
                <a:moveTo>
                  <a:pt x="0" y="0"/>
                </a:moveTo>
                <a:lnTo>
                  <a:pt x="3170287" y="0"/>
                </a:lnTo>
                <a:lnTo>
                  <a:pt x="3170287" y="3277553"/>
                </a:lnTo>
                <a:lnTo>
                  <a:pt x="0" y="32775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230986">
            <a:off x="7160280" y="-893668"/>
            <a:ext cx="1022375" cy="3748710"/>
          </a:xfrm>
          <a:custGeom>
            <a:avLst/>
            <a:gdLst/>
            <a:ahLst/>
            <a:cxnLst/>
            <a:rect r="r" b="b" t="t" l="l"/>
            <a:pathLst>
              <a:path h="3748710" w="1022375">
                <a:moveTo>
                  <a:pt x="0" y="0"/>
                </a:moveTo>
                <a:lnTo>
                  <a:pt x="1022376" y="0"/>
                </a:lnTo>
                <a:lnTo>
                  <a:pt x="1022376" y="3748709"/>
                </a:lnTo>
                <a:lnTo>
                  <a:pt x="0" y="37487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315641" y="1859221"/>
            <a:ext cx="21557502" cy="5055017"/>
            <a:chOff x="0" y="0"/>
            <a:chExt cx="28743336" cy="67400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0009099" y="3322387"/>
              <a:ext cx="4851755" cy="570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rtl="true">
                <a:lnSpc>
                  <a:spcPts val="3677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71550"/>
              <a:ext cx="28743336" cy="576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26535"/>
                </a:lnSpc>
              </a:pPr>
              <a:r>
                <a:rPr lang="ar-EG" sz="33169" spc="-232">
                  <a:solidFill>
                    <a:srgbClr val="000000"/>
                  </a:solidFill>
                  <a:latin typeface="Layla Thuluth"/>
                  <a:ea typeface="Layla Thuluth"/>
                  <a:cs typeface="Layla Thuluth"/>
                  <a:sym typeface="Layla Thuluth"/>
                  <a:rtl val="true"/>
                </a:rPr>
                <a:t>م</a:t>
              </a:r>
              <a:r>
                <a:rPr lang="ar-EG" sz="33169" spc="-232">
                  <a:solidFill>
                    <a:srgbClr val="000000"/>
                  </a:solidFill>
                  <a:latin typeface="Layla Thuluth"/>
                  <a:ea typeface="Layla Thuluth"/>
                  <a:cs typeface="Layla Thuluth"/>
                  <a:sym typeface="Layla Thuluth"/>
                  <a:rtl val="true"/>
                </a:rPr>
                <a:t>يديا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74152"/>
            <a:ext cx="5672336" cy="696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30494" indent="-715247" lvl="1">
              <a:lnSpc>
                <a:spcPts val="11131"/>
              </a:lnSpc>
              <a:buFont typeface="Arial"/>
              <a:buChar char="•"/>
            </a:pPr>
            <a:r>
              <a:rPr lang="en-US" sz="662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</a:t>
            </a:r>
          </a:p>
          <a:p>
            <a:pPr algn="l" marL="1430494" indent="-715247" lvl="1">
              <a:lnSpc>
                <a:spcPts val="11131"/>
              </a:lnSpc>
              <a:buFont typeface="Arial"/>
              <a:buChar char="•"/>
            </a:pPr>
            <a:r>
              <a:rPr lang="en-US" sz="662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level</a:t>
            </a:r>
          </a:p>
          <a:p>
            <a:pPr algn="l" marL="1430494" indent="-715247" lvl="1">
              <a:lnSpc>
                <a:spcPts val="11131"/>
              </a:lnSpc>
              <a:buFont typeface="Arial"/>
              <a:buChar char="•"/>
            </a:pPr>
            <a:r>
              <a:rPr lang="en-US" sz="662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department</a:t>
            </a:r>
          </a:p>
          <a:p>
            <a:pPr algn="l" marL="1430494" indent="-715247" lvl="1">
              <a:lnSpc>
                <a:spcPts val="11131"/>
              </a:lnSpc>
              <a:buFont typeface="Arial"/>
              <a:buChar char="•"/>
            </a:pPr>
            <a:r>
              <a:rPr lang="en-US" sz="662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 fact </a:t>
            </a:r>
          </a:p>
          <a:p>
            <a:pPr algn="l" marL="1430494" indent="-715247" lvl="1">
              <a:lnSpc>
                <a:spcPts val="11131"/>
              </a:lnSpc>
              <a:buFont typeface="Arial"/>
              <a:buChar char="•"/>
            </a:pPr>
            <a:r>
              <a:rPr lang="en-US" sz="6625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fav food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5021" y="1019175"/>
            <a:ext cx="722941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4"/>
              </a:lnSpc>
              <a:spcBef>
                <a:spcPct val="0"/>
              </a:spcBef>
            </a:pPr>
            <a:r>
              <a:rPr lang="en-US" b="true" sz="9445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Break the ice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831056">
            <a:off x="12460705" y="151242"/>
            <a:ext cx="6309624" cy="3590749"/>
          </a:xfrm>
          <a:custGeom>
            <a:avLst/>
            <a:gdLst/>
            <a:ahLst/>
            <a:cxnLst/>
            <a:rect r="r" b="b" t="t" l="l"/>
            <a:pathLst>
              <a:path h="3590749" w="6309624">
                <a:moveTo>
                  <a:pt x="0" y="0"/>
                </a:moveTo>
                <a:lnTo>
                  <a:pt x="6309624" y="0"/>
                </a:lnTo>
                <a:lnTo>
                  <a:pt x="6309624" y="3590750"/>
                </a:lnTo>
                <a:lnTo>
                  <a:pt x="0" y="359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85041">
            <a:off x="12253087" y="5390401"/>
            <a:ext cx="4962392" cy="5592860"/>
          </a:xfrm>
          <a:custGeom>
            <a:avLst/>
            <a:gdLst/>
            <a:ahLst/>
            <a:cxnLst/>
            <a:rect r="r" b="b" t="t" l="l"/>
            <a:pathLst>
              <a:path h="5592860" w="4962392">
                <a:moveTo>
                  <a:pt x="4962392" y="0"/>
                </a:moveTo>
                <a:lnTo>
                  <a:pt x="0" y="0"/>
                </a:lnTo>
                <a:lnTo>
                  <a:pt x="0" y="5592860"/>
                </a:lnTo>
                <a:lnTo>
                  <a:pt x="4962392" y="5592860"/>
                </a:lnTo>
                <a:lnTo>
                  <a:pt x="496239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2983" y="0"/>
            <a:ext cx="2230086" cy="10287000"/>
            <a:chOff x="0" y="0"/>
            <a:chExt cx="5873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73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7348">
                  <a:moveTo>
                    <a:pt x="0" y="0"/>
                  </a:moveTo>
                  <a:lnTo>
                    <a:pt x="587348" y="0"/>
                  </a:lnTo>
                  <a:lnTo>
                    <a:pt x="5873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4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8734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99100" y="3256223"/>
            <a:ext cx="15489800" cy="41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214" indent="-366607" lvl="1">
              <a:lnSpc>
                <a:spcPts val="4075"/>
              </a:lnSpc>
              <a:buFont typeface="Arial"/>
              <a:buChar char="•"/>
            </a:pPr>
            <a:r>
              <a:rPr lang="en-US" b="true" sz="339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 mins late is acceptable, after 10 mins every minute is equal to 1 p</a:t>
            </a:r>
            <a:r>
              <a:rPr lang="en-US" b="true" sz="339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ound.   max(20 pounds)</a:t>
            </a:r>
          </a:p>
          <a:p>
            <a:pPr algn="l">
              <a:lnSpc>
                <a:spcPts val="4075"/>
              </a:lnSpc>
            </a:pPr>
          </a:p>
          <a:p>
            <a:pPr algn="l" marL="733214" indent="-366607" lvl="1">
              <a:lnSpc>
                <a:spcPts val="4075"/>
              </a:lnSpc>
              <a:buFont typeface="Arial"/>
              <a:buChar char="•"/>
            </a:pPr>
            <a:r>
              <a:rPr lang="en-US" b="true" sz="339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Absence without any excuse -&gt; 2 warnings</a:t>
            </a:r>
          </a:p>
          <a:p>
            <a:pPr algn="l">
              <a:lnSpc>
                <a:spcPts val="4075"/>
              </a:lnSpc>
            </a:pPr>
          </a:p>
          <a:p>
            <a:pPr algn="l" marL="733214" indent="-366607" lvl="1">
              <a:lnSpc>
                <a:spcPts val="4075"/>
              </a:lnSpc>
              <a:buFont typeface="Arial"/>
              <a:buChar char="•"/>
            </a:pPr>
            <a:r>
              <a:rPr lang="en-US" b="true" sz="339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Missing Task without any excuse -&gt; 1 warning</a:t>
            </a:r>
          </a:p>
          <a:p>
            <a:pPr algn="l">
              <a:lnSpc>
                <a:spcPts val="4075"/>
              </a:lnSpc>
            </a:pPr>
          </a:p>
          <a:p>
            <a:pPr algn="l" marL="733214" indent="-366607" lvl="1">
              <a:lnSpc>
                <a:spcPts val="4075"/>
              </a:lnSpc>
              <a:buFont typeface="Arial"/>
              <a:buChar char="•"/>
            </a:pPr>
            <a:r>
              <a:rPr lang="en-US" b="true" sz="339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Any unacceptable behavior -&gt; warning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02829" y="5525710"/>
            <a:ext cx="5771969" cy="4544114"/>
          </a:xfrm>
          <a:custGeom>
            <a:avLst/>
            <a:gdLst/>
            <a:ahLst/>
            <a:cxnLst/>
            <a:rect r="r" b="b" t="t" l="l"/>
            <a:pathLst>
              <a:path h="4544114" w="5771969">
                <a:moveTo>
                  <a:pt x="0" y="0"/>
                </a:moveTo>
                <a:lnTo>
                  <a:pt x="5771969" y="0"/>
                </a:lnTo>
                <a:lnTo>
                  <a:pt x="5771969" y="4544114"/>
                </a:lnTo>
                <a:lnTo>
                  <a:pt x="0" y="4544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9100" y="7797767"/>
            <a:ext cx="11618861" cy="2406944"/>
          </a:xfrm>
          <a:custGeom>
            <a:avLst/>
            <a:gdLst/>
            <a:ahLst/>
            <a:cxnLst/>
            <a:rect r="r" b="b" t="t" l="l"/>
            <a:pathLst>
              <a:path h="2406944" w="11618861">
                <a:moveTo>
                  <a:pt x="0" y="0"/>
                </a:moveTo>
                <a:lnTo>
                  <a:pt x="11618861" y="0"/>
                </a:lnTo>
                <a:lnTo>
                  <a:pt x="11618861" y="2406944"/>
                </a:lnTo>
                <a:lnTo>
                  <a:pt x="0" y="2406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2173032">
            <a:off x="11241893" y="7956960"/>
            <a:ext cx="2049961" cy="395083"/>
          </a:xfrm>
          <a:custGeom>
            <a:avLst/>
            <a:gdLst/>
            <a:ahLst/>
            <a:cxnLst/>
            <a:rect r="r" b="b" t="t" l="l"/>
            <a:pathLst>
              <a:path h="395083" w="2049961">
                <a:moveTo>
                  <a:pt x="0" y="0"/>
                </a:moveTo>
                <a:lnTo>
                  <a:pt x="2049961" y="0"/>
                </a:lnTo>
                <a:lnTo>
                  <a:pt x="2049961" y="395084"/>
                </a:lnTo>
                <a:lnTo>
                  <a:pt x="0" y="395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9756" y="1019175"/>
            <a:ext cx="5303044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34"/>
              </a:lnSpc>
              <a:spcBef>
                <a:spcPct val="0"/>
              </a:spcBef>
            </a:pPr>
            <a:r>
              <a:rPr lang="en-US" b="true" sz="944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Our Rules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059620" y="8152212"/>
            <a:ext cx="9715806" cy="2227174"/>
            <a:chOff x="0" y="0"/>
            <a:chExt cx="12954408" cy="296956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5140809" y="1474141"/>
              <a:ext cx="7813599" cy="1495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06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85725"/>
              <a:ext cx="6986609" cy="768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3"/>
                </a:lnSpc>
              </a:pPr>
              <a:r>
                <a:rPr lang="en-US" sz="3375" spc="168">
                  <a:solidFill>
                    <a:srgbClr val="000000"/>
                  </a:solidFill>
                  <a:latin typeface="Schoolbell"/>
                  <a:ea typeface="Schoolbell"/>
                  <a:cs typeface="Schoolbell"/>
                  <a:sym typeface="Schoolbell"/>
                </a:rPr>
                <a:t>#One for All &amp; All for one</a:t>
              </a:r>
            </a:p>
            <a:p>
              <a:pPr algn="l">
                <a:lnSpc>
                  <a:spcPts val="4893"/>
                </a:lnSpc>
              </a:pPr>
              <a:r>
                <a:rPr lang="en-US" sz="3375" spc="168">
                  <a:solidFill>
                    <a:srgbClr val="000000"/>
                  </a:solidFill>
                  <a:latin typeface="Schoolbell"/>
                  <a:ea typeface="Schoolbell"/>
                  <a:cs typeface="Schoolbell"/>
                  <a:sym typeface="Schoolbell"/>
                </a:rPr>
                <a:t>#Don’t Reinvent the wheel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872487" y="8917942"/>
            <a:ext cx="4754207" cy="90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852"/>
              </a:lnSpc>
            </a:pPr>
            <a:r>
              <a:rPr lang="ar-EG" sz="7315" spc="-51">
                <a:solidFill>
                  <a:srgbClr val="000000"/>
                </a:solidFill>
                <a:latin typeface="Layla Thuluth"/>
                <a:ea typeface="Layla Thuluth"/>
                <a:cs typeface="Layla Thuluth"/>
                <a:sym typeface="Layla Thuluth"/>
                <a:rtl val="true"/>
              </a:rPr>
              <a:t>زكاة العلم تعليمه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2173032">
            <a:off x="955776" y="9568678"/>
            <a:ext cx="2049961" cy="395083"/>
          </a:xfrm>
          <a:custGeom>
            <a:avLst/>
            <a:gdLst/>
            <a:ahLst/>
            <a:cxnLst/>
            <a:rect r="r" b="b" t="t" l="l"/>
            <a:pathLst>
              <a:path h="395083" w="2049961">
                <a:moveTo>
                  <a:pt x="0" y="0"/>
                </a:moveTo>
                <a:lnTo>
                  <a:pt x="2049961" y="0"/>
                </a:lnTo>
                <a:lnTo>
                  <a:pt x="2049961" y="395083"/>
                </a:lnTo>
                <a:lnTo>
                  <a:pt x="0" y="3950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13713" y="2810809"/>
            <a:ext cx="12874287" cy="786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4"/>
              </a:lnSpc>
            </a:pPr>
            <a:r>
              <a:rPr lang="en-US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</a:p>
          <a:p>
            <a:pPr algn="r" rtl="true">
              <a:lnSpc>
                <a:spcPts val="4484"/>
              </a:lnSpc>
            </a:pPr>
            <a:r>
              <a:rPr lang="ar-EG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نحن لسنا مجرد</a:t>
            </a:r>
            <a:r>
              <a:rPr lang="ar-EG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فريق تصوير، </a:t>
            </a:r>
            <a:r>
              <a:rPr lang="ar-EG" sz="3736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بل</a:t>
            </a:r>
            <a:r>
              <a:rPr lang="ar-EG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</a:t>
            </a:r>
          </a:p>
          <a:p>
            <a:pPr algn="r" rtl="true">
              <a:lnSpc>
                <a:spcPts val="4484"/>
              </a:lnSpc>
            </a:pPr>
          </a:p>
          <a:p>
            <a:pPr algn="r" rtl="true" marL="806812" indent="-403406" lvl="1">
              <a:lnSpc>
                <a:spcPts val="4484"/>
              </a:lnSpc>
              <a:buFont typeface="Arial"/>
              <a:buChar char="•"/>
            </a:pPr>
            <a:r>
              <a:rPr lang="ar-EG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نحن مسؤولون عن الاتصال والتأثير</a:t>
            </a:r>
          </a:p>
          <a:p>
            <a:pPr algn="r" rtl="true">
              <a:lnSpc>
                <a:spcPts val="4484"/>
              </a:lnSpc>
            </a:pPr>
          </a:p>
          <a:p>
            <a:pPr algn="r" rtl="true" marL="806812" indent="-403406" lvl="1">
              <a:lnSpc>
                <a:spcPts val="4484"/>
              </a:lnSpc>
              <a:buFont typeface="Arial"/>
              <a:buChar char="•"/>
            </a:pPr>
            <a:r>
              <a:rPr lang="ar-EG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نحن نخلق تأثيرًا يؤدي إلى </a:t>
            </a:r>
            <a:r>
              <a:rPr lang="en-US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action</a:t>
            </a:r>
            <a:r>
              <a:rPr lang="ar-EG" sz="373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 (المحتوى النافع هو الى بيخلي الشخص ينتقل من مرحلة المشاهدة لمرحلة العمل )من خلال توليد أفكار قوية وتحويلها إلى محتوى رقمي بجودة عالية وتأثير فعلي</a:t>
            </a:r>
          </a:p>
          <a:p>
            <a:pPr algn="r" rtl="true" marL="806812" indent="-403406" lvl="1">
              <a:lnSpc>
                <a:spcPts val="4484"/>
              </a:lnSpc>
              <a:buFont typeface="Arial"/>
              <a:buChar char="•"/>
            </a:pPr>
          </a:p>
          <a:p>
            <a:pPr algn="ctr" rtl="true">
              <a:lnSpc>
                <a:spcPts val="4484"/>
              </a:lnSpc>
            </a:pPr>
            <a:r>
              <a:rPr lang="ar-EG" b="true" sz="373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( هنتعلم كيف نولد افكار وننتج محتوى رقمي سواء مسموع او مقروء او مرئي بافضل جودة وتاثير )</a:t>
            </a:r>
          </a:p>
          <a:p>
            <a:pPr algn="r" rtl="true">
              <a:lnSpc>
                <a:spcPts val="4484"/>
              </a:lnSpc>
            </a:pPr>
          </a:p>
          <a:p>
            <a:pPr algn="r" rtl="true">
              <a:lnSpc>
                <a:spcPts val="4484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1115043" y="0"/>
            <a:ext cx="2230086" cy="10287000"/>
            <a:chOff x="0" y="0"/>
            <a:chExt cx="58734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73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7348">
                  <a:moveTo>
                    <a:pt x="0" y="0"/>
                  </a:moveTo>
                  <a:lnTo>
                    <a:pt x="587348" y="0"/>
                  </a:lnTo>
                  <a:lnTo>
                    <a:pt x="5873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4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8734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4904" y="2779657"/>
            <a:ext cx="3346586" cy="7507343"/>
          </a:xfrm>
          <a:custGeom>
            <a:avLst/>
            <a:gdLst/>
            <a:ahLst/>
            <a:cxnLst/>
            <a:rect r="r" b="b" t="t" l="l"/>
            <a:pathLst>
              <a:path h="7507343" w="3346586">
                <a:moveTo>
                  <a:pt x="0" y="0"/>
                </a:moveTo>
                <a:lnTo>
                  <a:pt x="3346586" y="0"/>
                </a:lnTo>
                <a:lnTo>
                  <a:pt x="3346586" y="7507343"/>
                </a:lnTo>
                <a:lnTo>
                  <a:pt x="0" y="7507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864" r="-204215" b="-39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3205">
            <a:off x="4903024" y="1969402"/>
            <a:ext cx="1412754" cy="2298859"/>
          </a:xfrm>
          <a:custGeom>
            <a:avLst/>
            <a:gdLst/>
            <a:ahLst/>
            <a:cxnLst/>
            <a:rect r="r" b="b" t="t" l="l"/>
            <a:pathLst>
              <a:path h="2298859" w="1412754">
                <a:moveTo>
                  <a:pt x="0" y="0"/>
                </a:moveTo>
                <a:lnTo>
                  <a:pt x="1412754" y="0"/>
                </a:lnTo>
                <a:lnTo>
                  <a:pt x="1412754" y="2298859"/>
                </a:lnTo>
                <a:lnTo>
                  <a:pt x="0" y="2298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21630" y="1212532"/>
            <a:ext cx="208597" cy="725805"/>
            <a:chOff x="0" y="0"/>
            <a:chExt cx="278130" cy="967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7814" y="50153"/>
              <a:ext cx="188246" cy="866012"/>
            </a:xfrm>
            <a:custGeom>
              <a:avLst/>
              <a:gdLst/>
              <a:ahLst/>
              <a:cxnLst/>
              <a:rect r="r" b="b" t="t" l="l"/>
              <a:pathLst>
                <a:path h="866012" w="188246">
                  <a:moveTo>
                    <a:pt x="188246" y="78117"/>
                  </a:moveTo>
                  <a:cubicBezTo>
                    <a:pt x="165386" y="835037"/>
                    <a:pt x="155226" y="842657"/>
                    <a:pt x="141256" y="851547"/>
                  </a:cubicBezTo>
                  <a:cubicBezTo>
                    <a:pt x="127286" y="860437"/>
                    <a:pt x="108236" y="868057"/>
                    <a:pt x="90456" y="865517"/>
                  </a:cubicBezTo>
                  <a:cubicBezTo>
                    <a:pt x="70136" y="862977"/>
                    <a:pt x="37116" y="842657"/>
                    <a:pt x="24416" y="826147"/>
                  </a:cubicBezTo>
                  <a:cubicBezTo>
                    <a:pt x="14256" y="810907"/>
                    <a:pt x="11716" y="790587"/>
                    <a:pt x="12986" y="774077"/>
                  </a:cubicBezTo>
                  <a:cubicBezTo>
                    <a:pt x="15526" y="757567"/>
                    <a:pt x="21876" y="738517"/>
                    <a:pt x="35846" y="725817"/>
                  </a:cubicBezTo>
                  <a:cubicBezTo>
                    <a:pt x="51086" y="711847"/>
                    <a:pt x="86646" y="697877"/>
                    <a:pt x="108236" y="701687"/>
                  </a:cubicBezTo>
                  <a:cubicBezTo>
                    <a:pt x="131096" y="705497"/>
                    <a:pt x="160306" y="729627"/>
                    <a:pt x="170466" y="748677"/>
                  </a:cubicBezTo>
                  <a:cubicBezTo>
                    <a:pt x="179356" y="763917"/>
                    <a:pt x="179356" y="784237"/>
                    <a:pt x="175546" y="800747"/>
                  </a:cubicBezTo>
                  <a:cubicBezTo>
                    <a:pt x="171736" y="817257"/>
                    <a:pt x="161576" y="835037"/>
                    <a:pt x="148876" y="846467"/>
                  </a:cubicBezTo>
                  <a:cubicBezTo>
                    <a:pt x="136176" y="856627"/>
                    <a:pt x="115856" y="864247"/>
                    <a:pt x="99346" y="865517"/>
                  </a:cubicBezTo>
                  <a:cubicBezTo>
                    <a:pt x="82836" y="866787"/>
                    <a:pt x="62516" y="862977"/>
                    <a:pt x="48546" y="851547"/>
                  </a:cubicBezTo>
                  <a:cubicBezTo>
                    <a:pt x="32036" y="837577"/>
                    <a:pt x="20606" y="819797"/>
                    <a:pt x="12986" y="782967"/>
                  </a:cubicBezTo>
                  <a:cubicBezTo>
                    <a:pt x="-13684" y="671207"/>
                    <a:pt x="4096" y="154317"/>
                    <a:pt x="35846" y="59067"/>
                  </a:cubicBezTo>
                  <a:cubicBezTo>
                    <a:pt x="43466" y="32397"/>
                    <a:pt x="52356" y="23507"/>
                    <a:pt x="66326" y="13347"/>
                  </a:cubicBezTo>
                  <a:cubicBezTo>
                    <a:pt x="80296" y="3187"/>
                    <a:pt x="103156" y="-1893"/>
                    <a:pt x="120936" y="647"/>
                  </a:cubicBezTo>
                  <a:cubicBezTo>
                    <a:pt x="137446" y="1917"/>
                    <a:pt x="157766" y="13347"/>
                    <a:pt x="169196" y="26047"/>
                  </a:cubicBezTo>
                  <a:cubicBezTo>
                    <a:pt x="180626" y="38747"/>
                    <a:pt x="188246" y="78117"/>
                    <a:pt x="188246" y="78117"/>
                  </a:cubicBezTo>
                </a:path>
              </a:pathLst>
            </a:custGeom>
            <a:solidFill>
              <a:srgbClr val="FFA62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686300" y="1529715"/>
            <a:ext cx="419100" cy="561022"/>
            <a:chOff x="0" y="0"/>
            <a:chExt cx="558800" cy="748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8352" y="49520"/>
              <a:ext cx="463580" cy="649735"/>
            </a:xfrm>
            <a:custGeom>
              <a:avLst/>
              <a:gdLst/>
              <a:ahLst/>
              <a:cxnLst/>
              <a:rect r="r" b="b" t="t" l="l"/>
              <a:pathLst>
                <a:path h="649735" w="463580">
                  <a:moveTo>
                    <a:pt x="149768" y="48270"/>
                  </a:moveTo>
                  <a:cubicBezTo>
                    <a:pt x="194218" y="139710"/>
                    <a:pt x="229778" y="171460"/>
                    <a:pt x="251368" y="203210"/>
                  </a:cubicBezTo>
                  <a:cubicBezTo>
                    <a:pt x="270418" y="231150"/>
                    <a:pt x="275498" y="256550"/>
                    <a:pt x="297088" y="290840"/>
                  </a:cubicBezTo>
                  <a:cubicBezTo>
                    <a:pt x="331378" y="341640"/>
                    <a:pt x="426628" y="414030"/>
                    <a:pt x="449488" y="471180"/>
                  </a:cubicBezTo>
                  <a:cubicBezTo>
                    <a:pt x="465998" y="510550"/>
                    <a:pt x="467268" y="556270"/>
                    <a:pt x="457108" y="585480"/>
                  </a:cubicBezTo>
                  <a:cubicBezTo>
                    <a:pt x="448218" y="610880"/>
                    <a:pt x="424088" y="635010"/>
                    <a:pt x="403768" y="643900"/>
                  </a:cubicBezTo>
                  <a:cubicBezTo>
                    <a:pt x="387258" y="651520"/>
                    <a:pt x="365668" y="650250"/>
                    <a:pt x="349158" y="645170"/>
                  </a:cubicBezTo>
                  <a:cubicBezTo>
                    <a:pt x="333918" y="640090"/>
                    <a:pt x="314868" y="628660"/>
                    <a:pt x="305978" y="613420"/>
                  </a:cubicBezTo>
                  <a:cubicBezTo>
                    <a:pt x="294548" y="594370"/>
                    <a:pt x="288198" y="556270"/>
                    <a:pt x="295818" y="534680"/>
                  </a:cubicBezTo>
                  <a:cubicBezTo>
                    <a:pt x="304708" y="513090"/>
                    <a:pt x="332648" y="487690"/>
                    <a:pt x="355508" y="482610"/>
                  </a:cubicBezTo>
                  <a:cubicBezTo>
                    <a:pt x="378368" y="477530"/>
                    <a:pt x="415198" y="486420"/>
                    <a:pt x="431708" y="502930"/>
                  </a:cubicBezTo>
                  <a:cubicBezTo>
                    <a:pt x="449488" y="518170"/>
                    <a:pt x="462188" y="553730"/>
                    <a:pt x="458378" y="576590"/>
                  </a:cubicBezTo>
                  <a:cubicBezTo>
                    <a:pt x="455838" y="599450"/>
                    <a:pt x="430438" y="629930"/>
                    <a:pt x="412658" y="641360"/>
                  </a:cubicBezTo>
                  <a:cubicBezTo>
                    <a:pt x="396148" y="650250"/>
                    <a:pt x="375828" y="651520"/>
                    <a:pt x="358048" y="647710"/>
                  </a:cubicBezTo>
                  <a:cubicBezTo>
                    <a:pt x="341538" y="643900"/>
                    <a:pt x="323758" y="636280"/>
                    <a:pt x="312328" y="621040"/>
                  </a:cubicBezTo>
                  <a:cubicBezTo>
                    <a:pt x="293278" y="596910"/>
                    <a:pt x="294548" y="537220"/>
                    <a:pt x="275498" y="505470"/>
                  </a:cubicBezTo>
                  <a:cubicBezTo>
                    <a:pt x="258988" y="476260"/>
                    <a:pt x="232318" y="467370"/>
                    <a:pt x="205648" y="434350"/>
                  </a:cubicBezTo>
                  <a:cubicBezTo>
                    <a:pt x="157388" y="375930"/>
                    <a:pt x="63408" y="231150"/>
                    <a:pt x="32928" y="172730"/>
                  </a:cubicBezTo>
                  <a:cubicBezTo>
                    <a:pt x="17688" y="144790"/>
                    <a:pt x="10068" y="130820"/>
                    <a:pt x="4988" y="109230"/>
                  </a:cubicBezTo>
                  <a:cubicBezTo>
                    <a:pt x="1178" y="91450"/>
                    <a:pt x="-2632" y="69860"/>
                    <a:pt x="2448" y="54620"/>
                  </a:cubicBezTo>
                  <a:cubicBezTo>
                    <a:pt x="8798" y="38110"/>
                    <a:pt x="22768" y="19060"/>
                    <a:pt x="38008" y="11440"/>
                  </a:cubicBezTo>
                  <a:cubicBezTo>
                    <a:pt x="53248" y="2550"/>
                    <a:pt x="74838" y="-2530"/>
                    <a:pt x="92618" y="1280"/>
                  </a:cubicBezTo>
                  <a:cubicBezTo>
                    <a:pt x="112938" y="7630"/>
                    <a:pt x="149768" y="48270"/>
                    <a:pt x="149768" y="48270"/>
                  </a:cubicBezTo>
                </a:path>
              </a:pathLst>
            </a:custGeom>
            <a:solidFill>
              <a:srgbClr val="FFA62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967162" y="2213610"/>
            <a:ext cx="606743" cy="440055"/>
            <a:chOff x="0" y="0"/>
            <a:chExt cx="80899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08" y="50022"/>
              <a:ext cx="707744" cy="486961"/>
            </a:xfrm>
            <a:custGeom>
              <a:avLst/>
              <a:gdLst/>
              <a:ahLst/>
              <a:cxnLst/>
              <a:rect r="r" b="b" t="t" l="l"/>
              <a:pathLst>
                <a:path h="486961" w="707744">
                  <a:moveTo>
                    <a:pt x="114492" y="8398"/>
                  </a:moveTo>
                  <a:cubicBezTo>
                    <a:pt x="379922" y="144288"/>
                    <a:pt x="415482" y="137938"/>
                    <a:pt x="445962" y="156988"/>
                  </a:cubicBezTo>
                  <a:cubicBezTo>
                    <a:pt x="476442" y="176038"/>
                    <a:pt x="489142" y="215408"/>
                    <a:pt x="520892" y="243348"/>
                  </a:cubicBezTo>
                  <a:cubicBezTo>
                    <a:pt x="564072" y="280178"/>
                    <a:pt x="660592" y="318278"/>
                    <a:pt x="687262" y="351298"/>
                  </a:cubicBezTo>
                  <a:cubicBezTo>
                    <a:pt x="701232" y="369078"/>
                    <a:pt x="706312" y="383048"/>
                    <a:pt x="707582" y="399558"/>
                  </a:cubicBezTo>
                  <a:cubicBezTo>
                    <a:pt x="708852" y="416068"/>
                    <a:pt x="702502" y="436388"/>
                    <a:pt x="693612" y="450358"/>
                  </a:cubicBezTo>
                  <a:cubicBezTo>
                    <a:pt x="684722" y="463058"/>
                    <a:pt x="669482" y="477028"/>
                    <a:pt x="652972" y="482108"/>
                  </a:cubicBezTo>
                  <a:cubicBezTo>
                    <a:pt x="632652" y="487188"/>
                    <a:pt x="595822" y="480838"/>
                    <a:pt x="578042" y="470678"/>
                  </a:cubicBezTo>
                  <a:cubicBezTo>
                    <a:pt x="562802" y="460518"/>
                    <a:pt x="551372" y="444008"/>
                    <a:pt x="547562" y="427498"/>
                  </a:cubicBezTo>
                  <a:cubicBezTo>
                    <a:pt x="543752" y="407178"/>
                    <a:pt x="550102" y="370348"/>
                    <a:pt x="564072" y="352568"/>
                  </a:cubicBezTo>
                  <a:cubicBezTo>
                    <a:pt x="578042" y="336058"/>
                    <a:pt x="613602" y="323358"/>
                    <a:pt x="633922" y="324628"/>
                  </a:cubicBezTo>
                  <a:cubicBezTo>
                    <a:pt x="651702" y="324628"/>
                    <a:pt x="669482" y="334788"/>
                    <a:pt x="680912" y="346218"/>
                  </a:cubicBezTo>
                  <a:cubicBezTo>
                    <a:pt x="693612" y="356378"/>
                    <a:pt x="703772" y="375428"/>
                    <a:pt x="706312" y="390668"/>
                  </a:cubicBezTo>
                  <a:cubicBezTo>
                    <a:pt x="708852" y="407178"/>
                    <a:pt x="706312" y="427498"/>
                    <a:pt x="698692" y="442738"/>
                  </a:cubicBezTo>
                  <a:cubicBezTo>
                    <a:pt x="691072" y="456708"/>
                    <a:pt x="675832" y="471948"/>
                    <a:pt x="660592" y="478298"/>
                  </a:cubicBezTo>
                  <a:cubicBezTo>
                    <a:pt x="646622" y="485918"/>
                    <a:pt x="630112" y="489728"/>
                    <a:pt x="609792" y="484648"/>
                  </a:cubicBezTo>
                  <a:cubicBezTo>
                    <a:pt x="569152" y="474488"/>
                    <a:pt x="486602" y="408448"/>
                    <a:pt x="445962" y="374158"/>
                  </a:cubicBezTo>
                  <a:cubicBezTo>
                    <a:pt x="418022" y="350028"/>
                    <a:pt x="415482" y="329708"/>
                    <a:pt x="382462" y="305578"/>
                  </a:cubicBezTo>
                  <a:cubicBezTo>
                    <a:pt x="313882" y="254778"/>
                    <a:pt x="73852" y="179848"/>
                    <a:pt x="25592" y="132858"/>
                  </a:cubicBezTo>
                  <a:cubicBezTo>
                    <a:pt x="7812" y="115078"/>
                    <a:pt x="2732" y="101108"/>
                    <a:pt x="192" y="83328"/>
                  </a:cubicBezTo>
                  <a:cubicBezTo>
                    <a:pt x="-1078" y="66818"/>
                    <a:pt x="4002" y="45228"/>
                    <a:pt x="14162" y="31258"/>
                  </a:cubicBezTo>
                  <a:cubicBezTo>
                    <a:pt x="24322" y="17288"/>
                    <a:pt x="43372" y="4588"/>
                    <a:pt x="59882" y="778"/>
                  </a:cubicBezTo>
                  <a:cubicBezTo>
                    <a:pt x="76392" y="-3032"/>
                    <a:pt x="114492" y="8398"/>
                    <a:pt x="114492" y="8398"/>
                  </a:cubicBezTo>
                </a:path>
              </a:pathLst>
            </a:custGeom>
            <a:solidFill>
              <a:srgbClr val="FFA62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884295" y="2901315"/>
            <a:ext cx="644843" cy="303847"/>
            <a:chOff x="0" y="0"/>
            <a:chExt cx="859790" cy="405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567" y="49662"/>
              <a:ext cx="757807" cy="307266"/>
            </a:xfrm>
            <a:custGeom>
              <a:avLst/>
              <a:gdLst/>
              <a:ahLst/>
              <a:cxnLst/>
              <a:rect r="r" b="b" t="t" l="l"/>
              <a:pathLst>
                <a:path h="307266" w="757807">
                  <a:moveTo>
                    <a:pt x="77703" y="147188"/>
                  </a:moveTo>
                  <a:cubicBezTo>
                    <a:pt x="209783" y="142108"/>
                    <a:pt x="338053" y="105278"/>
                    <a:pt x="419333" y="97658"/>
                  </a:cubicBezTo>
                  <a:cubicBezTo>
                    <a:pt x="485373" y="91308"/>
                    <a:pt x="580623" y="116708"/>
                    <a:pt x="599673" y="95118"/>
                  </a:cubicBezTo>
                  <a:cubicBezTo>
                    <a:pt x="609833" y="84958"/>
                    <a:pt x="592053" y="62098"/>
                    <a:pt x="598403" y="48128"/>
                  </a:cubicBezTo>
                  <a:cubicBezTo>
                    <a:pt x="607293" y="30348"/>
                    <a:pt x="637773" y="4948"/>
                    <a:pt x="660633" y="1138"/>
                  </a:cubicBezTo>
                  <a:cubicBezTo>
                    <a:pt x="683493" y="-2672"/>
                    <a:pt x="719053" y="12568"/>
                    <a:pt x="735563" y="26538"/>
                  </a:cubicBezTo>
                  <a:cubicBezTo>
                    <a:pt x="748263" y="39238"/>
                    <a:pt x="757153" y="58288"/>
                    <a:pt x="757153" y="76068"/>
                  </a:cubicBezTo>
                  <a:cubicBezTo>
                    <a:pt x="758423" y="97658"/>
                    <a:pt x="745723" y="134488"/>
                    <a:pt x="727943" y="148458"/>
                  </a:cubicBezTo>
                  <a:cubicBezTo>
                    <a:pt x="710163" y="163698"/>
                    <a:pt x="672063" y="168778"/>
                    <a:pt x="650473" y="164968"/>
                  </a:cubicBezTo>
                  <a:cubicBezTo>
                    <a:pt x="632693" y="161158"/>
                    <a:pt x="616183" y="149728"/>
                    <a:pt x="607293" y="134488"/>
                  </a:cubicBezTo>
                  <a:cubicBezTo>
                    <a:pt x="594593" y="116708"/>
                    <a:pt x="586973" y="78608"/>
                    <a:pt x="594593" y="57018"/>
                  </a:cubicBezTo>
                  <a:cubicBezTo>
                    <a:pt x="602213" y="35428"/>
                    <a:pt x="631423" y="10028"/>
                    <a:pt x="651743" y="3678"/>
                  </a:cubicBezTo>
                  <a:cubicBezTo>
                    <a:pt x="669523" y="-2672"/>
                    <a:pt x="689843" y="-132"/>
                    <a:pt x="706353" y="6218"/>
                  </a:cubicBezTo>
                  <a:cubicBezTo>
                    <a:pt x="721593" y="12568"/>
                    <a:pt x="738103" y="26538"/>
                    <a:pt x="745723" y="41778"/>
                  </a:cubicBezTo>
                  <a:cubicBezTo>
                    <a:pt x="754613" y="55748"/>
                    <a:pt x="759693" y="72258"/>
                    <a:pt x="757153" y="93848"/>
                  </a:cubicBezTo>
                  <a:cubicBezTo>
                    <a:pt x="752073" y="131948"/>
                    <a:pt x="716513" y="219578"/>
                    <a:pt x="683493" y="244978"/>
                  </a:cubicBezTo>
                  <a:cubicBezTo>
                    <a:pt x="660633" y="264028"/>
                    <a:pt x="635233" y="258948"/>
                    <a:pt x="599673" y="261488"/>
                  </a:cubicBezTo>
                  <a:cubicBezTo>
                    <a:pt x="546333" y="265298"/>
                    <a:pt x="462513" y="247518"/>
                    <a:pt x="390123" y="253868"/>
                  </a:cubicBezTo>
                  <a:cubicBezTo>
                    <a:pt x="313923" y="260218"/>
                    <a:pt x="208513" y="297048"/>
                    <a:pt x="151363" y="303398"/>
                  </a:cubicBezTo>
                  <a:cubicBezTo>
                    <a:pt x="120883" y="307208"/>
                    <a:pt x="101833" y="309748"/>
                    <a:pt x="77703" y="303398"/>
                  </a:cubicBezTo>
                  <a:cubicBezTo>
                    <a:pt x="54843" y="298318"/>
                    <a:pt x="26903" y="285618"/>
                    <a:pt x="14203" y="270378"/>
                  </a:cubicBezTo>
                  <a:cubicBezTo>
                    <a:pt x="2773" y="255138"/>
                    <a:pt x="-1037" y="233548"/>
                    <a:pt x="233" y="215768"/>
                  </a:cubicBezTo>
                  <a:cubicBezTo>
                    <a:pt x="2773" y="199258"/>
                    <a:pt x="12933" y="178938"/>
                    <a:pt x="25633" y="166238"/>
                  </a:cubicBezTo>
                  <a:cubicBezTo>
                    <a:pt x="39603" y="154808"/>
                    <a:pt x="77703" y="147188"/>
                    <a:pt x="77703" y="147188"/>
                  </a:cubicBezTo>
                </a:path>
              </a:pathLst>
            </a:custGeom>
            <a:solidFill>
              <a:srgbClr val="FFA629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185535" y="1541145"/>
            <a:ext cx="501968" cy="702945"/>
            <a:chOff x="0" y="0"/>
            <a:chExt cx="669290" cy="9372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663" y="50153"/>
              <a:ext cx="567980" cy="836307"/>
            </a:xfrm>
            <a:custGeom>
              <a:avLst/>
              <a:gdLst/>
              <a:ahLst/>
              <a:cxnLst/>
              <a:rect r="r" b="b" t="t" l="l"/>
              <a:pathLst>
                <a:path h="836307" w="567980">
                  <a:moveTo>
                    <a:pt x="561477" y="113677"/>
                  </a:moveTo>
                  <a:cubicBezTo>
                    <a:pt x="480197" y="300367"/>
                    <a:pt x="491627" y="328307"/>
                    <a:pt x="477657" y="362597"/>
                  </a:cubicBezTo>
                  <a:cubicBezTo>
                    <a:pt x="459877" y="408317"/>
                    <a:pt x="409077" y="450227"/>
                    <a:pt x="370977" y="506107"/>
                  </a:cubicBezTo>
                  <a:cubicBezTo>
                    <a:pt x="320177" y="582307"/>
                    <a:pt x="263027" y="730897"/>
                    <a:pt x="207147" y="782967"/>
                  </a:cubicBezTo>
                  <a:cubicBezTo>
                    <a:pt x="172857" y="813447"/>
                    <a:pt x="132217" y="827417"/>
                    <a:pt x="103007" y="833767"/>
                  </a:cubicBezTo>
                  <a:cubicBezTo>
                    <a:pt x="82687" y="837577"/>
                    <a:pt x="64907" y="835037"/>
                    <a:pt x="49667" y="828687"/>
                  </a:cubicBezTo>
                  <a:cubicBezTo>
                    <a:pt x="34427" y="822337"/>
                    <a:pt x="17917" y="809637"/>
                    <a:pt x="10297" y="793127"/>
                  </a:cubicBezTo>
                  <a:cubicBezTo>
                    <a:pt x="1407" y="774077"/>
                    <a:pt x="137" y="735977"/>
                    <a:pt x="9027" y="715657"/>
                  </a:cubicBezTo>
                  <a:cubicBezTo>
                    <a:pt x="15377" y="699147"/>
                    <a:pt x="29347" y="685177"/>
                    <a:pt x="47127" y="677557"/>
                  </a:cubicBezTo>
                  <a:cubicBezTo>
                    <a:pt x="66177" y="669937"/>
                    <a:pt x="104277" y="668667"/>
                    <a:pt x="124597" y="680097"/>
                  </a:cubicBezTo>
                  <a:cubicBezTo>
                    <a:pt x="143647" y="691527"/>
                    <a:pt x="163967" y="723277"/>
                    <a:pt x="166507" y="746137"/>
                  </a:cubicBezTo>
                  <a:cubicBezTo>
                    <a:pt x="167777" y="768997"/>
                    <a:pt x="149997" y="803287"/>
                    <a:pt x="134757" y="817257"/>
                  </a:cubicBezTo>
                  <a:cubicBezTo>
                    <a:pt x="122057" y="829957"/>
                    <a:pt x="101737" y="835037"/>
                    <a:pt x="85227" y="836307"/>
                  </a:cubicBezTo>
                  <a:cubicBezTo>
                    <a:pt x="68717" y="836307"/>
                    <a:pt x="48397" y="831227"/>
                    <a:pt x="34427" y="819797"/>
                  </a:cubicBezTo>
                  <a:cubicBezTo>
                    <a:pt x="17917" y="805827"/>
                    <a:pt x="1407" y="771537"/>
                    <a:pt x="137" y="749947"/>
                  </a:cubicBezTo>
                  <a:cubicBezTo>
                    <a:pt x="-1133" y="732167"/>
                    <a:pt x="6487" y="716927"/>
                    <a:pt x="19187" y="700417"/>
                  </a:cubicBezTo>
                  <a:cubicBezTo>
                    <a:pt x="35697" y="675017"/>
                    <a:pt x="75067" y="657237"/>
                    <a:pt x="108087" y="620407"/>
                  </a:cubicBezTo>
                  <a:cubicBezTo>
                    <a:pt x="158887" y="563257"/>
                    <a:pt x="228737" y="466737"/>
                    <a:pt x="280807" y="374027"/>
                  </a:cubicBezTo>
                  <a:cubicBezTo>
                    <a:pt x="337957" y="271157"/>
                    <a:pt x="386217" y="76847"/>
                    <a:pt x="430667" y="27317"/>
                  </a:cubicBezTo>
                  <a:cubicBezTo>
                    <a:pt x="448447" y="8267"/>
                    <a:pt x="462417" y="3187"/>
                    <a:pt x="480197" y="647"/>
                  </a:cubicBezTo>
                  <a:cubicBezTo>
                    <a:pt x="496707" y="-1893"/>
                    <a:pt x="519567" y="3187"/>
                    <a:pt x="533537" y="13347"/>
                  </a:cubicBezTo>
                  <a:cubicBezTo>
                    <a:pt x="548777" y="22237"/>
                    <a:pt x="562747" y="41287"/>
                    <a:pt x="566557" y="57797"/>
                  </a:cubicBezTo>
                  <a:cubicBezTo>
                    <a:pt x="571637" y="75577"/>
                    <a:pt x="561477" y="113677"/>
                    <a:pt x="561477" y="113677"/>
                  </a:cubicBezTo>
                </a:path>
              </a:pathLst>
            </a:custGeom>
            <a:solidFill>
              <a:srgbClr val="FFA629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297228" y="1066818"/>
            <a:ext cx="9617216" cy="174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3161"/>
              </a:lnSpc>
            </a:pPr>
            <a:r>
              <a:rPr lang="ar-EG" sz="13161" b="true">
                <a:solidFill>
                  <a:srgbClr val="EC7806"/>
                </a:solidFill>
                <a:latin typeface="Sukar Bold"/>
                <a:ea typeface="Sukar Bold"/>
                <a:cs typeface="Sukar Bold"/>
                <a:sym typeface="Sukar Bold"/>
                <a:rtl val="true"/>
              </a:rPr>
              <a:t>ايه دو</a:t>
            </a:r>
            <a:r>
              <a:rPr lang="ar-EG" b="true" sz="13161">
                <a:solidFill>
                  <a:srgbClr val="EC7806"/>
                </a:solidFill>
                <a:latin typeface="Sukar Bold"/>
                <a:ea typeface="Sukar Bold"/>
                <a:cs typeface="Sukar Bold"/>
                <a:sym typeface="Sukar Bold"/>
                <a:rtl val="true"/>
              </a:rPr>
              <a:t>رنا ؟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89581">
            <a:off x="-763198" y="754780"/>
            <a:ext cx="5027925" cy="5666719"/>
          </a:xfrm>
          <a:custGeom>
            <a:avLst/>
            <a:gdLst/>
            <a:ahLst/>
            <a:cxnLst/>
            <a:rect r="r" b="b" t="t" l="l"/>
            <a:pathLst>
              <a:path h="5666719" w="5027925">
                <a:moveTo>
                  <a:pt x="0" y="0"/>
                </a:moveTo>
                <a:lnTo>
                  <a:pt x="5027925" y="0"/>
                </a:lnTo>
                <a:lnTo>
                  <a:pt x="5027925" y="5666719"/>
                </a:lnTo>
                <a:lnTo>
                  <a:pt x="0" y="5666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08862" y="3037236"/>
            <a:ext cx="6009426" cy="2637634"/>
            <a:chOff x="0" y="0"/>
            <a:chExt cx="4652789" cy="2042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52789" cy="2042184"/>
            </a:xfrm>
            <a:custGeom>
              <a:avLst/>
              <a:gdLst/>
              <a:ahLst/>
              <a:cxnLst/>
              <a:rect r="r" b="b" t="t" l="l"/>
              <a:pathLst>
                <a:path h="2042184" w="4652789">
                  <a:moveTo>
                    <a:pt x="4528329" y="2042184"/>
                  </a:moveTo>
                  <a:lnTo>
                    <a:pt x="124460" y="2042184"/>
                  </a:lnTo>
                  <a:cubicBezTo>
                    <a:pt x="55880" y="2042184"/>
                    <a:pt x="0" y="1986304"/>
                    <a:pt x="0" y="191772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528329" y="0"/>
                  </a:lnTo>
                  <a:cubicBezTo>
                    <a:pt x="4596909" y="0"/>
                    <a:pt x="4652789" y="55880"/>
                    <a:pt x="4652789" y="124460"/>
                  </a:cubicBezTo>
                  <a:lnTo>
                    <a:pt x="4652789" y="1917724"/>
                  </a:lnTo>
                  <a:cubicBezTo>
                    <a:pt x="4652789" y="1986304"/>
                    <a:pt x="4596909" y="2042184"/>
                    <a:pt x="4528329" y="2042184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3187089" y="4356053"/>
            <a:ext cx="525297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 Documentation</a:t>
            </a:r>
          </a:p>
          <a:p>
            <a:pPr algn="ctr">
              <a:lnSpc>
                <a:spcPts val="3840"/>
              </a:lnSpc>
            </a:pPr>
            <a:r>
              <a:rPr lang="ar-EG" sz="32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توثيق الفعاليات والايفنتات</a:t>
            </a:r>
          </a:p>
          <a:p>
            <a:pPr algn="ctr">
              <a:lnSpc>
                <a:spcPts val="38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06654" y="721661"/>
            <a:ext cx="1442326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Contents: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782149" y="6364350"/>
            <a:ext cx="6009426" cy="2637634"/>
            <a:chOff x="0" y="0"/>
            <a:chExt cx="4652789" cy="204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52789" cy="2042184"/>
            </a:xfrm>
            <a:custGeom>
              <a:avLst/>
              <a:gdLst/>
              <a:ahLst/>
              <a:cxnLst/>
              <a:rect r="r" b="b" t="t" l="l"/>
              <a:pathLst>
                <a:path h="2042184" w="4652789">
                  <a:moveTo>
                    <a:pt x="4528329" y="2042184"/>
                  </a:moveTo>
                  <a:lnTo>
                    <a:pt x="124460" y="2042184"/>
                  </a:lnTo>
                  <a:cubicBezTo>
                    <a:pt x="55880" y="2042184"/>
                    <a:pt x="0" y="1986304"/>
                    <a:pt x="0" y="191772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528329" y="0"/>
                  </a:lnTo>
                  <a:cubicBezTo>
                    <a:pt x="4596909" y="0"/>
                    <a:pt x="4652789" y="55880"/>
                    <a:pt x="4652789" y="124460"/>
                  </a:cubicBezTo>
                  <a:lnTo>
                    <a:pt x="4652789" y="1917724"/>
                  </a:lnTo>
                  <a:cubicBezTo>
                    <a:pt x="4652789" y="1986304"/>
                    <a:pt x="4596909" y="2042184"/>
                    <a:pt x="4528329" y="2042184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657757" y="7467330"/>
            <a:ext cx="4258210" cy="158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59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Content Production</a:t>
            </a:r>
          </a:p>
          <a:p>
            <a:pPr algn="ctr">
              <a:lnSpc>
                <a:spcPts val="3112"/>
              </a:lnSpc>
            </a:pPr>
            <a:r>
              <a:rPr lang="ar-EG" sz="259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تنفيذ المحتوى بجودة عالية سواء بالتصوير اوبالفيديو ايدت</a:t>
            </a:r>
          </a:p>
          <a:p>
            <a:pPr algn="ctr">
              <a:lnSpc>
                <a:spcPts val="3112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5427575" y="3328094"/>
            <a:ext cx="771999" cy="771999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40969" y="3317663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86850" y="2340911"/>
            <a:ext cx="6009426" cy="4343989"/>
            <a:chOff x="0" y="0"/>
            <a:chExt cx="8012567" cy="579198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012567" cy="5791985"/>
              <a:chOff x="0" y="0"/>
              <a:chExt cx="4652789" cy="336332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652789" cy="3363327"/>
              </a:xfrm>
              <a:custGeom>
                <a:avLst/>
                <a:gdLst/>
                <a:ahLst/>
                <a:cxnLst/>
                <a:rect r="r" b="b" t="t" l="l"/>
                <a:pathLst>
                  <a:path h="3363327" w="4652789">
                    <a:moveTo>
                      <a:pt x="4528329" y="3363327"/>
                    </a:moveTo>
                    <a:lnTo>
                      <a:pt x="124460" y="3363327"/>
                    </a:lnTo>
                    <a:cubicBezTo>
                      <a:pt x="55880" y="3363327"/>
                      <a:pt x="0" y="3307447"/>
                      <a:pt x="0" y="323886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528329" y="0"/>
                    </a:lnTo>
                    <a:cubicBezTo>
                      <a:pt x="4596909" y="0"/>
                      <a:pt x="4652789" y="55880"/>
                      <a:pt x="4652789" y="124460"/>
                    </a:cubicBezTo>
                    <a:lnTo>
                      <a:pt x="4652789" y="3238867"/>
                    </a:lnTo>
                    <a:cubicBezTo>
                      <a:pt x="4652789" y="3307447"/>
                      <a:pt x="4596909" y="3363327"/>
                      <a:pt x="4528329" y="3363327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4303" y="1499385"/>
              <a:ext cx="7003962" cy="429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Content Ideation</a:t>
              </a:r>
            </a:p>
            <a:p>
              <a:pPr algn="ctr">
                <a:lnSpc>
                  <a:spcPts val="3120"/>
                </a:lnSpc>
              </a:pPr>
              <a:r>
                <a:rPr lang="ar-EG" sz="26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توليد أفكار لانشاء المحتوى والمحتوى المقصود هو اي عمل اعلامي يجعل الكوميتي تظهر للعامة مثل فيديوهات عالسوشا الميديا او بودكاسات ومقابلات مع افراد الكوميتي او توثيق لانجازات الممبرز في الكوميتي</a:t>
              </a:r>
            </a:p>
            <a:p>
              <a:pPr algn="ctr">
                <a:lnSpc>
                  <a:spcPts val="3120"/>
                </a:lnSpc>
              </a:pP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3520715" y="438105"/>
              <a:ext cx="1029332" cy="1029332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46A37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3671907" y="465472"/>
              <a:ext cx="726948" cy="850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652"/>
                </a:lnSpc>
                <a:spcBef>
                  <a:spcPct val="0"/>
                </a:spcBef>
              </a:pPr>
              <a:r>
                <a:rPr lang="en-US" b="true" sz="3600" u="non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86850" y="6941169"/>
            <a:ext cx="6009426" cy="3123409"/>
            <a:chOff x="0" y="0"/>
            <a:chExt cx="8012567" cy="416454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012567" cy="4164545"/>
              <a:chOff x="0" y="0"/>
              <a:chExt cx="4652789" cy="241829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652789" cy="2418295"/>
              </a:xfrm>
              <a:custGeom>
                <a:avLst/>
                <a:gdLst/>
                <a:ahLst/>
                <a:cxnLst/>
                <a:rect r="r" b="b" t="t" l="l"/>
                <a:pathLst>
                  <a:path h="2418295" w="4652789">
                    <a:moveTo>
                      <a:pt x="4528329" y="2418295"/>
                    </a:moveTo>
                    <a:lnTo>
                      <a:pt x="124460" y="2418295"/>
                    </a:lnTo>
                    <a:cubicBezTo>
                      <a:pt x="55880" y="2418295"/>
                      <a:pt x="0" y="2362415"/>
                      <a:pt x="0" y="229383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528329" y="0"/>
                    </a:lnTo>
                    <a:cubicBezTo>
                      <a:pt x="4596909" y="0"/>
                      <a:pt x="4652789" y="55880"/>
                      <a:pt x="4652789" y="124460"/>
                    </a:cubicBezTo>
                    <a:lnTo>
                      <a:pt x="4652789" y="2293835"/>
                    </a:lnTo>
                    <a:cubicBezTo>
                      <a:pt x="4652789" y="2362415"/>
                      <a:pt x="4596909" y="2418295"/>
                      <a:pt x="4528329" y="241829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533400" y="1792224"/>
              <a:ext cx="7003962" cy="194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Brand Representation</a:t>
              </a:r>
            </a:p>
            <a:p>
              <a:pPr algn="ctr">
                <a:lnSpc>
                  <a:spcPts val="3840"/>
                </a:lnSpc>
              </a:pPr>
              <a:r>
                <a:rPr lang="ar-EG" sz="32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تمثيل صورة الكوميتي</a:t>
              </a:r>
            </a:p>
            <a:p>
              <a:pPr algn="ctr">
                <a:lnSpc>
                  <a:spcPts val="3840"/>
                </a:lnSpc>
              </a:pP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3520715" y="427399"/>
              <a:ext cx="1029332" cy="1029332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46A37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3671907" y="454766"/>
              <a:ext cx="726948" cy="8507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652"/>
                </a:lnSpc>
                <a:spcBef>
                  <a:spcPct val="0"/>
                </a:spcBef>
              </a:pPr>
              <a:r>
                <a:rPr lang="en-US" b="true" sz="3600" u="non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27575" y="6684900"/>
            <a:ext cx="771999" cy="771999"/>
            <a:chOff x="0" y="0"/>
            <a:chExt cx="6350000" cy="635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540969" y="6674469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-1280595">
            <a:off x="14247046" y="494735"/>
            <a:ext cx="5027925" cy="5666719"/>
          </a:xfrm>
          <a:custGeom>
            <a:avLst/>
            <a:gdLst/>
            <a:ahLst/>
            <a:cxnLst/>
            <a:rect r="r" b="b" t="t" l="l"/>
            <a:pathLst>
              <a:path h="5666719" w="5027925">
                <a:moveTo>
                  <a:pt x="5027925" y="0"/>
                </a:moveTo>
                <a:lnTo>
                  <a:pt x="0" y="0"/>
                </a:lnTo>
                <a:lnTo>
                  <a:pt x="0" y="5666719"/>
                </a:lnTo>
                <a:lnTo>
                  <a:pt x="5027925" y="5666719"/>
                </a:lnTo>
                <a:lnTo>
                  <a:pt x="502792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2230086" cy="10287000"/>
            <a:chOff x="0" y="0"/>
            <a:chExt cx="5873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73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7348">
                  <a:moveTo>
                    <a:pt x="0" y="0"/>
                  </a:moveTo>
                  <a:lnTo>
                    <a:pt x="587348" y="0"/>
                  </a:lnTo>
                  <a:lnTo>
                    <a:pt x="5873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4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8734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48800" y="2762250"/>
            <a:ext cx="14976178" cy="475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1"/>
              </a:lnSpc>
              <a:spcBef>
                <a:spcPct val="0"/>
              </a:spcBef>
            </a:pPr>
            <a:r>
              <a:rPr lang="ar-EG" b="true" sz="3967">
                <a:solidFill>
                  <a:srgbClr val="F46A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الميديا</a:t>
            </a:r>
            <a:r>
              <a:rPr lang="ar-EG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هي أي قناة تستخدم لتخزين ونقل المعلومات أو البيانات. وفقًا</a:t>
            </a:r>
            <a:r>
              <a:rPr lang="ar-EG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لليونسكو، الميديا هي أداة لنشر المعرفة والتأثير على المجتمعات</a:t>
            </a:r>
            <a:r>
              <a:rPr lang="en-US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>
              <a:lnSpc>
                <a:spcPts val="4761"/>
              </a:lnSpc>
              <a:spcBef>
                <a:spcPct val="0"/>
              </a:spcBef>
            </a:pPr>
          </a:p>
          <a:p>
            <a:pPr algn="ctr">
              <a:lnSpc>
                <a:spcPts val="4642"/>
              </a:lnSpc>
            </a:pPr>
            <a:r>
              <a:rPr lang="en-US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ar-EG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بلغتنا : نظام كامل لنقل فكرة او احساس او رسالة تهدف للتأثر</a:t>
            </a:r>
          </a:p>
          <a:p>
            <a:pPr algn="ctr">
              <a:lnSpc>
                <a:spcPts val="4642"/>
              </a:lnSpc>
            </a:pPr>
          </a:p>
          <a:p>
            <a:pPr algn="ctr">
              <a:lnSpc>
                <a:spcPts val="4642"/>
              </a:lnSpc>
            </a:pPr>
          </a:p>
          <a:p>
            <a:pPr algn="r">
              <a:lnSpc>
                <a:spcPts val="4761"/>
              </a:lnSpc>
              <a:spcBef>
                <a:spcPct val="0"/>
              </a:spcBef>
            </a:pPr>
            <a:r>
              <a:rPr lang="en-US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  <a:r>
              <a:rPr lang="ar-EG" b="true" sz="3967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الفكرة</a:t>
            </a:r>
            <a:r>
              <a:rPr lang="ar-EG" sz="396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</a:t>
            </a:r>
            <a:r>
              <a:rPr lang="ar-EG" b="true" sz="3967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الأساسية</a:t>
            </a:r>
          </a:p>
          <a:p>
            <a:pPr algn="ctr">
              <a:lnSpc>
                <a:spcPts val="4761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5938780"/>
            <a:ext cx="5132019" cy="4348220"/>
          </a:xfrm>
          <a:custGeom>
            <a:avLst/>
            <a:gdLst/>
            <a:ahLst/>
            <a:cxnLst/>
            <a:rect r="r" b="b" t="t" l="l"/>
            <a:pathLst>
              <a:path h="4348220" w="5132019">
                <a:moveTo>
                  <a:pt x="0" y="0"/>
                </a:moveTo>
                <a:lnTo>
                  <a:pt x="5132019" y="0"/>
                </a:lnTo>
                <a:lnTo>
                  <a:pt x="5132019" y="4348220"/>
                </a:lnTo>
                <a:lnTo>
                  <a:pt x="0" y="4348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97406" y="6354197"/>
            <a:ext cx="8590956" cy="92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569"/>
              </a:lnSpc>
            </a:pPr>
            <a:r>
              <a:rPr lang="ar-EG" b="true" sz="6961">
                <a:solidFill>
                  <a:srgbClr val="000000"/>
                </a:solidFill>
                <a:latin typeface="Mirza Regular Bold"/>
                <a:ea typeface="Mirza Regular Bold"/>
                <a:cs typeface="Mirza Regular Bold"/>
                <a:sym typeface="Mirza Regular Bold"/>
                <a:rtl val="true"/>
              </a:rPr>
              <a:t>الميديا = التأثير + الاتصال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54934" y="915596"/>
            <a:ext cx="9470044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9600"/>
              </a:lnSpc>
            </a:pPr>
            <a:r>
              <a:rPr lang="ar-EG" sz="9600" b="true">
                <a:solidFill>
                  <a:srgbClr val="EC7806"/>
                </a:solidFill>
                <a:latin typeface="Sukar Bold"/>
                <a:ea typeface="Sukar Bold"/>
                <a:cs typeface="Sukar Bold"/>
                <a:sym typeface="Sukar Bold"/>
                <a:rtl val="true"/>
              </a:rPr>
              <a:t>ما هي</a:t>
            </a:r>
            <a:r>
              <a:rPr lang="ar-EG" b="true" sz="9600">
                <a:solidFill>
                  <a:srgbClr val="EC7806"/>
                </a:solidFill>
                <a:latin typeface="Sukar Bold"/>
                <a:ea typeface="Sukar Bold"/>
                <a:cs typeface="Sukar Bold"/>
                <a:sym typeface="Sukar Bold"/>
                <a:rtl val="true"/>
              </a:rPr>
              <a:t> الميديا؟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8858250"/>
            <a:ext cx="20742442" cy="1943100"/>
            <a:chOff x="0" y="0"/>
            <a:chExt cx="5463030" cy="5117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63030" cy="511763"/>
            </a:xfrm>
            <a:custGeom>
              <a:avLst/>
              <a:gdLst/>
              <a:ahLst/>
              <a:cxnLst/>
              <a:rect r="r" b="b" t="t" l="l"/>
              <a:pathLst>
                <a:path h="511763" w="5463030">
                  <a:moveTo>
                    <a:pt x="0" y="0"/>
                  </a:moveTo>
                  <a:lnTo>
                    <a:pt x="5463030" y="0"/>
                  </a:lnTo>
                  <a:lnTo>
                    <a:pt x="5463030" y="511763"/>
                  </a:lnTo>
                  <a:lnTo>
                    <a:pt x="0" y="511763"/>
                  </a:lnTo>
                  <a:close/>
                </a:path>
              </a:pathLst>
            </a:custGeom>
            <a:solidFill>
              <a:srgbClr val="EC780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463030" cy="521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3780472" y="710491"/>
            <a:ext cx="4836009" cy="8866017"/>
          </a:xfrm>
          <a:custGeom>
            <a:avLst/>
            <a:gdLst/>
            <a:ahLst/>
            <a:cxnLst/>
            <a:rect r="r" b="b" t="t" l="l"/>
            <a:pathLst>
              <a:path h="8866017" w="4836009">
                <a:moveTo>
                  <a:pt x="4836010" y="0"/>
                </a:moveTo>
                <a:lnTo>
                  <a:pt x="0" y="0"/>
                </a:lnTo>
                <a:lnTo>
                  <a:pt x="0" y="8866018"/>
                </a:lnTo>
                <a:lnTo>
                  <a:pt x="4836010" y="8866018"/>
                </a:lnTo>
                <a:lnTo>
                  <a:pt x="48360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9618" y="1221417"/>
            <a:ext cx="3439887" cy="2381460"/>
          </a:xfrm>
          <a:custGeom>
            <a:avLst/>
            <a:gdLst/>
            <a:ahLst/>
            <a:cxnLst/>
            <a:rect r="r" b="b" t="t" l="l"/>
            <a:pathLst>
              <a:path h="2381460" w="3439887">
                <a:moveTo>
                  <a:pt x="0" y="0"/>
                </a:moveTo>
                <a:lnTo>
                  <a:pt x="3439887" y="0"/>
                </a:lnTo>
                <a:lnTo>
                  <a:pt x="3439887" y="2381461"/>
                </a:lnTo>
                <a:lnTo>
                  <a:pt x="0" y="2381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9165" t="-241" r="-41394" b="-17142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32623" y="3986592"/>
            <a:ext cx="17702194" cy="561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5"/>
              </a:lnSpc>
            </a:pPr>
            <a:r>
              <a:rPr lang="ar-EG" sz="13404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لماذا الميديا مهمة؟</a:t>
            </a:r>
          </a:p>
          <a:p>
            <a:pPr algn="l">
              <a:lnSpc>
                <a:spcPts val="14745"/>
              </a:lnSpc>
            </a:pPr>
          </a:p>
          <a:p>
            <a:pPr algn="l" marL="0" indent="0" lvl="0">
              <a:lnSpc>
                <a:spcPts val="1474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181286" y="6496167"/>
            <a:ext cx="1922999" cy="1616808"/>
          </a:xfrm>
          <a:custGeom>
            <a:avLst/>
            <a:gdLst/>
            <a:ahLst/>
            <a:cxnLst/>
            <a:rect r="r" b="b" t="t" l="l"/>
            <a:pathLst>
              <a:path h="1616808" w="1922999">
                <a:moveTo>
                  <a:pt x="0" y="0"/>
                </a:moveTo>
                <a:lnTo>
                  <a:pt x="1922999" y="0"/>
                </a:lnTo>
                <a:lnTo>
                  <a:pt x="1922999" y="1616808"/>
                </a:lnTo>
                <a:lnTo>
                  <a:pt x="0" y="1616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32" t="-71988" r="-165508" b="-9834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38576" y="2799329"/>
            <a:ext cx="1031724" cy="1063438"/>
          </a:xfrm>
          <a:custGeom>
            <a:avLst/>
            <a:gdLst/>
            <a:ahLst/>
            <a:cxnLst/>
            <a:rect r="r" b="b" t="t" l="l"/>
            <a:pathLst>
              <a:path h="1063438" w="1031724">
                <a:moveTo>
                  <a:pt x="0" y="0"/>
                </a:moveTo>
                <a:lnTo>
                  <a:pt x="1031724" y="0"/>
                </a:lnTo>
                <a:lnTo>
                  <a:pt x="1031724" y="1063438"/>
                </a:lnTo>
                <a:lnTo>
                  <a:pt x="0" y="106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7686" t="-115562" r="0" b="-8862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605506" y="7704621"/>
            <a:ext cx="1507345" cy="1553679"/>
          </a:xfrm>
          <a:custGeom>
            <a:avLst/>
            <a:gdLst/>
            <a:ahLst/>
            <a:cxnLst/>
            <a:rect r="r" b="b" t="t" l="l"/>
            <a:pathLst>
              <a:path h="1553679" w="1507345">
                <a:moveTo>
                  <a:pt x="0" y="0"/>
                </a:moveTo>
                <a:lnTo>
                  <a:pt x="1507344" y="0"/>
                </a:lnTo>
                <a:lnTo>
                  <a:pt x="1507344" y="1553679"/>
                </a:lnTo>
                <a:lnTo>
                  <a:pt x="0" y="1553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2275" t="-204186" r="-115411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43883" y="2840633"/>
            <a:ext cx="3310341" cy="5595211"/>
            <a:chOff x="0" y="0"/>
            <a:chExt cx="3133810" cy="5296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33810" cy="5296835"/>
            </a:xfrm>
            <a:custGeom>
              <a:avLst/>
              <a:gdLst/>
              <a:ahLst/>
              <a:cxnLst/>
              <a:rect r="r" b="b" t="t" l="l"/>
              <a:pathLst>
                <a:path h="5296835" w="3133810">
                  <a:moveTo>
                    <a:pt x="3009350" y="5296834"/>
                  </a:moveTo>
                  <a:lnTo>
                    <a:pt x="124460" y="5296834"/>
                  </a:lnTo>
                  <a:cubicBezTo>
                    <a:pt x="55880" y="5296834"/>
                    <a:pt x="0" y="5240955"/>
                    <a:pt x="0" y="517237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5172375"/>
                  </a:lnTo>
                  <a:cubicBezTo>
                    <a:pt x="3133810" y="5240955"/>
                    <a:pt x="3077930" y="5296835"/>
                    <a:pt x="3009350" y="529683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91026" y="2840633"/>
            <a:ext cx="3310341" cy="5595211"/>
            <a:chOff x="0" y="0"/>
            <a:chExt cx="3133810" cy="52968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33810" cy="5296835"/>
            </a:xfrm>
            <a:custGeom>
              <a:avLst/>
              <a:gdLst/>
              <a:ahLst/>
              <a:cxnLst/>
              <a:rect r="r" b="b" t="t" l="l"/>
              <a:pathLst>
                <a:path h="5296835" w="3133810">
                  <a:moveTo>
                    <a:pt x="3009350" y="5296834"/>
                  </a:moveTo>
                  <a:lnTo>
                    <a:pt x="124460" y="5296834"/>
                  </a:lnTo>
                  <a:cubicBezTo>
                    <a:pt x="55880" y="5296834"/>
                    <a:pt x="0" y="5240955"/>
                    <a:pt x="0" y="517237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5172375"/>
                  </a:lnTo>
                  <a:cubicBezTo>
                    <a:pt x="3133810" y="5240955"/>
                    <a:pt x="3077930" y="5296835"/>
                    <a:pt x="3009350" y="529683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38169" y="2840633"/>
            <a:ext cx="3310341" cy="5595211"/>
            <a:chOff x="0" y="0"/>
            <a:chExt cx="3133810" cy="52968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33810" cy="5296835"/>
            </a:xfrm>
            <a:custGeom>
              <a:avLst/>
              <a:gdLst/>
              <a:ahLst/>
              <a:cxnLst/>
              <a:rect r="r" b="b" t="t" l="l"/>
              <a:pathLst>
                <a:path h="5296835" w="3133810">
                  <a:moveTo>
                    <a:pt x="3009350" y="5296834"/>
                  </a:moveTo>
                  <a:lnTo>
                    <a:pt x="124460" y="5296834"/>
                  </a:lnTo>
                  <a:cubicBezTo>
                    <a:pt x="55880" y="5296834"/>
                    <a:pt x="0" y="5240955"/>
                    <a:pt x="0" y="517237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9350" y="0"/>
                  </a:lnTo>
                  <a:cubicBezTo>
                    <a:pt x="3077930" y="0"/>
                    <a:pt x="3133810" y="55880"/>
                    <a:pt x="3133810" y="124460"/>
                  </a:cubicBezTo>
                  <a:lnTo>
                    <a:pt x="3133810" y="5172375"/>
                  </a:lnTo>
                  <a:cubicBezTo>
                    <a:pt x="3133810" y="5240955"/>
                    <a:pt x="3077930" y="5296835"/>
                    <a:pt x="3009350" y="529683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338162" y="7881955"/>
            <a:ext cx="3063957" cy="1855087"/>
          </a:xfrm>
          <a:custGeom>
            <a:avLst/>
            <a:gdLst/>
            <a:ahLst/>
            <a:cxnLst/>
            <a:rect r="r" b="b" t="t" l="l"/>
            <a:pathLst>
              <a:path h="1855087" w="3063957">
                <a:moveTo>
                  <a:pt x="0" y="0"/>
                </a:moveTo>
                <a:lnTo>
                  <a:pt x="3063957" y="0"/>
                </a:lnTo>
                <a:lnTo>
                  <a:pt x="3063957" y="1855087"/>
                </a:lnTo>
                <a:lnTo>
                  <a:pt x="0" y="1855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659701" y="7881955"/>
            <a:ext cx="3063957" cy="1855087"/>
          </a:xfrm>
          <a:custGeom>
            <a:avLst/>
            <a:gdLst/>
            <a:ahLst/>
            <a:cxnLst/>
            <a:rect r="r" b="b" t="t" l="l"/>
            <a:pathLst>
              <a:path h="1855087" w="3063957">
                <a:moveTo>
                  <a:pt x="3063957" y="0"/>
                </a:moveTo>
                <a:lnTo>
                  <a:pt x="0" y="0"/>
                </a:lnTo>
                <a:lnTo>
                  <a:pt x="0" y="1855087"/>
                </a:lnTo>
                <a:lnTo>
                  <a:pt x="3063957" y="1855087"/>
                </a:lnTo>
                <a:lnTo>
                  <a:pt x="30639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24876" y="7755712"/>
            <a:ext cx="2890535" cy="1981330"/>
          </a:xfrm>
          <a:custGeom>
            <a:avLst/>
            <a:gdLst/>
            <a:ahLst/>
            <a:cxnLst/>
            <a:rect r="r" b="b" t="t" l="l"/>
            <a:pathLst>
              <a:path h="1981330" w="2890535">
                <a:moveTo>
                  <a:pt x="0" y="0"/>
                </a:moveTo>
                <a:lnTo>
                  <a:pt x="2890535" y="0"/>
                </a:lnTo>
                <a:lnTo>
                  <a:pt x="2890535" y="1981330"/>
                </a:lnTo>
                <a:lnTo>
                  <a:pt x="0" y="1981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30550" y="5622242"/>
            <a:ext cx="2972374" cy="4114800"/>
          </a:xfrm>
          <a:custGeom>
            <a:avLst/>
            <a:gdLst/>
            <a:ahLst/>
            <a:cxnLst/>
            <a:rect r="r" b="b" t="t" l="l"/>
            <a:pathLst>
              <a:path h="4114800" w="2972374">
                <a:moveTo>
                  <a:pt x="0" y="0"/>
                </a:moveTo>
                <a:lnTo>
                  <a:pt x="2972375" y="0"/>
                </a:lnTo>
                <a:lnTo>
                  <a:pt x="29723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38162" y="3379453"/>
            <a:ext cx="2596678" cy="176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17"/>
              </a:lnSpc>
            </a:pPr>
            <a:r>
              <a:rPr lang="ar-EG" b="true" sz="270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تشكيل الرأي العام</a:t>
            </a:r>
          </a:p>
          <a:p>
            <a:pPr algn="ctr">
              <a:lnSpc>
                <a:spcPts val="3517"/>
              </a:lnSpc>
            </a:pPr>
          </a:p>
          <a:p>
            <a:pPr algn="ctr" marL="0" indent="0" lvl="0">
              <a:lnSpc>
                <a:spcPts val="351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34179" y="4413218"/>
            <a:ext cx="2596678" cy="245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ar-EG" sz="270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نشر الأفكار بسرعة وتأثير على المجتمعات ( التاثير على اراء وافكار الناس</a:t>
            </a:r>
            <a:r>
              <a:rPr lang="ar-EG" sz="270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)</a:t>
            </a:r>
          </a:p>
          <a:p>
            <a:pPr algn="ctr" marL="0" indent="0" lvl="0">
              <a:lnSpc>
                <a:spcPts val="324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147857" y="3379453"/>
            <a:ext cx="2596678" cy="132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17"/>
              </a:lnSpc>
            </a:pPr>
            <a:r>
              <a:rPr lang="ar-EG" b="true" sz="270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دمج الفن والتكنولوجيا</a:t>
            </a:r>
          </a:p>
          <a:p>
            <a:pPr algn="ctr" marL="0" indent="0" lvl="0">
              <a:lnSpc>
                <a:spcPts val="351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179963" y="4417010"/>
            <a:ext cx="2596678" cy="123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ar-EG" sz="270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خلق تجارب إبداعية مبتكرة</a:t>
            </a:r>
          </a:p>
          <a:p>
            <a:pPr algn="ctr" marL="0" indent="0" lvl="0">
              <a:lnSpc>
                <a:spcPts val="324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777351" y="3379453"/>
            <a:ext cx="2828658" cy="88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7"/>
              </a:lnSpc>
            </a:pPr>
            <a:r>
              <a:rPr lang="ar-EG" sz="2705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فرص عمل رقمية</a:t>
            </a:r>
          </a:p>
          <a:p>
            <a:pPr algn="ctr" marL="0" indent="0" lvl="0">
              <a:lnSpc>
                <a:spcPts val="351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925447" y="4601119"/>
            <a:ext cx="2596678" cy="123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6"/>
              </a:lnSpc>
            </a:pPr>
            <a:r>
              <a:rPr lang="ar-EG" sz="270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مجالات متنوعة في الاقتصاد الرقمي</a:t>
            </a:r>
          </a:p>
          <a:p>
            <a:pPr algn="ctr" marL="0" indent="0" lvl="0">
              <a:lnSpc>
                <a:spcPts val="324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09650"/>
            <a:ext cx="162306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Media importance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47784" y="6330991"/>
            <a:ext cx="5285238" cy="2927309"/>
            <a:chOff x="0" y="0"/>
            <a:chExt cx="4092088" cy="22664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2088" cy="2266465"/>
            </a:xfrm>
            <a:custGeom>
              <a:avLst/>
              <a:gdLst/>
              <a:ahLst/>
              <a:cxnLst/>
              <a:rect r="r" b="b" t="t" l="l"/>
              <a:pathLst>
                <a:path h="2266465" w="4092088">
                  <a:moveTo>
                    <a:pt x="3967628" y="2266465"/>
                  </a:moveTo>
                  <a:lnTo>
                    <a:pt x="124460" y="2266465"/>
                  </a:lnTo>
                  <a:cubicBezTo>
                    <a:pt x="55880" y="2266465"/>
                    <a:pt x="0" y="2210585"/>
                    <a:pt x="0" y="21420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67628" y="0"/>
                  </a:lnTo>
                  <a:cubicBezTo>
                    <a:pt x="4036208" y="0"/>
                    <a:pt x="4092088" y="55880"/>
                    <a:pt x="4092088" y="124460"/>
                  </a:cubicBezTo>
                  <a:lnTo>
                    <a:pt x="4092088" y="2142005"/>
                  </a:lnTo>
                  <a:cubicBezTo>
                    <a:pt x="4092088" y="2210585"/>
                    <a:pt x="4036208" y="2266465"/>
                    <a:pt x="3967628" y="226646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02422" y="841457"/>
            <a:ext cx="162306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ar-EG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مجالات الميديا الأساسية</a:t>
            </a:r>
          </a:p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54978" y="6330991"/>
            <a:ext cx="5285238" cy="2927309"/>
            <a:chOff x="0" y="0"/>
            <a:chExt cx="4092088" cy="22664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92088" cy="2266465"/>
            </a:xfrm>
            <a:custGeom>
              <a:avLst/>
              <a:gdLst/>
              <a:ahLst/>
              <a:cxnLst/>
              <a:rect r="r" b="b" t="t" l="l"/>
              <a:pathLst>
                <a:path h="2266465" w="4092088">
                  <a:moveTo>
                    <a:pt x="3967628" y="2266465"/>
                  </a:moveTo>
                  <a:lnTo>
                    <a:pt x="124460" y="2266465"/>
                  </a:lnTo>
                  <a:cubicBezTo>
                    <a:pt x="55880" y="2266465"/>
                    <a:pt x="0" y="2210585"/>
                    <a:pt x="0" y="21420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67628" y="0"/>
                  </a:lnTo>
                  <a:cubicBezTo>
                    <a:pt x="4036208" y="0"/>
                    <a:pt x="4092088" y="55880"/>
                    <a:pt x="4092088" y="124460"/>
                  </a:cubicBezTo>
                  <a:lnTo>
                    <a:pt x="4092088" y="2142005"/>
                  </a:lnTo>
                  <a:cubicBezTo>
                    <a:pt x="4092088" y="2210585"/>
                    <a:pt x="4036208" y="2266465"/>
                    <a:pt x="3967628" y="226646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4978" y="3121567"/>
            <a:ext cx="5285238" cy="2927309"/>
            <a:chOff x="0" y="0"/>
            <a:chExt cx="4092088" cy="22664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2088" cy="2266465"/>
            </a:xfrm>
            <a:custGeom>
              <a:avLst/>
              <a:gdLst/>
              <a:ahLst/>
              <a:cxnLst/>
              <a:rect r="r" b="b" t="t" l="l"/>
              <a:pathLst>
                <a:path h="2266465" w="4092088">
                  <a:moveTo>
                    <a:pt x="3967628" y="2266465"/>
                  </a:moveTo>
                  <a:lnTo>
                    <a:pt x="124460" y="2266465"/>
                  </a:lnTo>
                  <a:cubicBezTo>
                    <a:pt x="55880" y="2266465"/>
                    <a:pt x="0" y="2210585"/>
                    <a:pt x="0" y="21420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67628" y="0"/>
                  </a:lnTo>
                  <a:cubicBezTo>
                    <a:pt x="4036208" y="0"/>
                    <a:pt x="4092088" y="55880"/>
                    <a:pt x="4092088" y="124460"/>
                  </a:cubicBezTo>
                  <a:lnTo>
                    <a:pt x="4092088" y="2142005"/>
                  </a:lnTo>
                  <a:cubicBezTo>
                    <a:pt x="4092088" y="2210585"/>
                    <a:pt x="4036208" y="2266465"/>
                    <a:pt x="3967628" y="226646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18300" y="4925371"/>
            <a:ext cx="435859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ar-EG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أفلام وإنتاج مرئي احترافي</a:t>
            </a:r>
          </a:p>
          <a:p>
            <a:pPr algn="ctr" marL="0" indent="0" lvl="0">
              <a:lnSpc>
                <a:spcPts val="28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1677" y="3899310"/>
            <a:ext cx="6651841" cy="118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61"/>
              </a:lnSpc>
            </a:pPr>
            <a:r>
              <a:rPr lang="ar-EG" b="true" sz="36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إنتاج الفيديو</a:t>
            </a:r>
          </a:p>
          <a:p>
            <a:pPr algn="ctr" marL="0" indent="0" lvl="0">
              <a:lnSpc>
                <a:spcPts val="476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18300" y="7910013"/>
            <a:ext cx="435859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ar-EG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إدارة المنصات الرقمية</a:t>
            </a:r>
          </a:p>
          <a:p>
            <a:pPr algn="ctr" marL="0" indent="0" lvl="0">
              <a:lnSpc>
                <a:spcPts val="28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73851" y="6989255"/>
            <a:ext cx="5926745" cy="105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2"/>
              </a:lnSpc>
            </a:pPr>
            <a:r>
              <a:rPr lang="ar-EG" sz="326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إدارة السوشيال ميديا</a:t>
            </a:r>
          </a:p>
          <a:p>
            <a:pPr algn="ctr" marL="0" indent="0" lvl="0">
              <a:lnSpc>
                <a:spcPts val="4242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1478776" y="2865520"/>
            <a:ext cx="6466989" cy="3183357"/>
            <a:chOff x="0" y="0"/>
            <a:chExt cx="8622652" cy="42444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870965" y="0"/>
              <a:ext cx="6880723" cy="4244475"/>
              <a:chOff x="0" y="0"/>
              <a:chExt cx="3674168" cy="226646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674168" cy="2266465"/>
              </a:xfrm>
              <a:custGeom>
                <a:avLst/>
                <a:gdLst/>
                <a:ahLst/>
                <a:cxnLst/>
                <a:rect r="r" b="b" t="t" l="l"/>
                <a:pathLst>
                  <a:path h="2266465" w="3674168">
                    <a:moveTo>
                      <a:pt x="3549708" y="2266465"/>
                    </a:moveTo>
                    <a:lnTo>
                      <a:pt x="124460" y="2266465"/>
                    </a:lnTo>
                    <a:cubicBezTo>
                      <a:pt x="55880" y="2266465"/>
                      <a:pt x="0" y="2210585"/>
                      <a:pt x="0" y="21420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549708" y="0"/>
                    </a:lnTo>
                    <a:cubicBezTo>
                      <a:pt x="3618288" y="0"/>
                      <a:pt x="3674168" y="55880"/>
                      <a:pt x="3674168" y="124460"/>
                    </a:cubicBezTo>
                    <a:lnTo>
                      <a:pt x="3674168" y="2142005"/>
                    </a:lnTo>
                    <a:cubicBezTo>
                      <a:pt x="3674168" y="2210585"/>
                      <a:pt x="3618288" y="2266465"/>
                      <a:pt x="3549708" y="226646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474152" y="2498808"/>
              <a:ext cx="5674348" cy="105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1"/>
                </a:lnSpc>
              </a:pPr>
              <a:r>
                <a:rPr lang="ar-EG" sz="2609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نشر الأخبار والمحتوى الإخباري</a:t>
              </a:r>
            </a:p>
            <a:p>
              <a:pPr algn="ctr" marL="0" indent="0" lvl="0">
                <a:lnSpc>
                  <a:spcPts val="3131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247734"/>
              <a:ext cx="8622652" cy="170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5155"/>
                </a:lnSpc>
              </a:pPr>
              <a:r>
                <a:rPr lang="ar-EG" b="true" sz="3966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  <a:rtl val="true"/>
                </a:rPr>
                <a:t>الصحافة</a:t>
              </a:r>
            </a:p>
            <a:p>
              <a:pPr algn="ctr" marL="0" indent="0" lvl="0">
                <a:lnSpc>
                  <a:spcPts val="515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11106" y="8038443"/>
            <a:ext cx="435859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ar-EG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بودكاست وتسجيلات صوتية</a:t>
            </a:r>
          </a:p>
          <a:p>
            <a:pPr algn="ctr" marL="0" indent="0" lvl="0">
              <a:lnSpc>
                <a:spcPts val="287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785834" y="7117533"/>
            <a:ext cx="6159932" cy="10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ar-EG" sz="3391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الإنتاج الصوتي</a:t>
            </a:r>
          </a:p>
          <a:p>
            <a:pPr algn="ctr" marL="0" indent="0" lvl="0">
              <a:lnSpc>
                <a:spcPts val="440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500596" y="6330991"/>
            <a:ext cx="5285238" cy="2927309"/>
            <a:chOff x="0" y="0"/>
            <a:chExt cx="4092088" cy="22664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92088" cy="2266465"/>
            </a:xfrm>
            <a:custGeom>
              <a:avLst/>
              <a:gdLst/>
              <a:ahLst/>
              <a:cxnLst/>
              <a:rect r="r" b="b" t="t" l="l"/>
              <a:pathLst>
                <a:path h="2266465" w="4092088">
                  <a:moveTo>
                    <a:pt x="3967628" y="2266465"/>
                  </a:moveTo>
                  <a:lnTo>
                    <a:pt x="124460" y="2266465"/>
                  </a:lnTo>
                  <a:cubicBezTo>
                    <a:pt x="55880" y="2266465"/>
                    <a:pt x="0" y="2210585"/>
                    <a:pt x="0" y="21420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67628" y="0"/>
                  </a:lnTo>
                  <a:cubicBezTo>
                    <a:pt x="4036208" y="0"/>
                    <a:pt x="4092088" y="55880"/>
                    <a:pt x="4092088" y="124460"/>
                  </a:cubicBezTo>
                  <a:lnTo>
                    <a:pt x="4092088" y="2142005"/>
                  </a:lnTo>
                  <a:cubicBezTo>
                    <a:pt x="4092088" y="2210585"/>
                    <a:pt x="4036208" y="2266465"/>
                    <a:pt x="3967628" y="2266465"/>
                  </a:cubicBezTo>
                  <a:close/>
                </a:path>
              </a:pathLst>
            </a:custGeom>
            <a:solidFill>
              <a:srgbClr val="03645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63918" y="8038443"/>
            <a:ext cx="435859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ar-EG" sz="24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إبداع بصري وتصميم مرئي</a:t>
            </a:r>
          </a:p>
          <a:p>
            <a:pPr algn="ctr" marL="0" indent="0" lvl="0">
              <a:lnSpc>
                <a:spcPts val="287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926745" y="7099363"/>
            <a:ext cx="6643405" cy="118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5"/>
              </a:lnSpc>
            </a:pPr>
            <a:r>
              <a:rPr lang="ar-EG" sz="3658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التصميم الجرافيكي</a:t>
            </a:r>
          </a:p>
          <a:p>
            <a:pPr algn="ctr" marL="0" indent="0" lvl="0">
              <a:lnSpc>
                <a:spcPts val="4755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6093078" y="2865520"/>
            <a:ext cx="6310740" cy="3289259"/>
            <a:chOff x="0" y="0"/>
            <a:chExt cx="8414320" cy="438567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683668" y="0"/>
              <a:ext cx="7046984" cy="4385679"/>
              <a:chOff x="0" y="0"/>
              <a:chExt cx="4092088" cy="254670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92088" cy="2546704"/>
              </a:xfrm>
              <a:custGeom>
                <a:avLst/>
                <a:gdLst/>
                <a:ahLst/>
                <a:cxnLst/>
                <a:rect r="r" b="b" t="t" l="l"/>
                <a:pathLst>
                  <a:path h="2546704" w="4092088">
                    <a:moveTo>
                      <a:pt x="3967628" y="2546704"/>
                    </a:moveTo>
                    <a:lnTo>
                      <a:pt x="124460" y="2546704"/>
                    </a:lnTo>
                    <a:cubicBezTo>
                      <a:pt x="55880" y="2546704"/>
                      <a:pt x="0" y="2490824"/>
                      <a:pt x="0" y="242224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967628" y="0"/>
                    </a:lnTo>
                    <a:cubicBezTo>
                      <a:pt x="4036208" y="0"/>
                      <a:pt x="4092088" y="55880"/>
                      <a:pt x="4092088" y="124460"/>
                    </a:cubicBezTo>
                    <a:lnTo>
                      <a:pt x="4092088" y="2422244"/>
                    </a:lnTo>
                    <a:cubicBezTo>
                      <a:pt x="4092088" y="2490824"/>
                      <a:pt x="4036208" y="2546704"/>
                      <a:pt x="3967628" y="2546704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301430" y="2591338"/>
              <a:ext cx="5811459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ar-EG" sz="24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تحرير فيديو، كتابة نصوص، تحليل جمهور</a:t>
              </a:r>
            </a:p>
            <a:p>
              <a:pPr algn="ctr" marL="0" indent="0" lvl="0">
                <a:lnSpc>
                  <a:spcPts val="287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104253"/>
              <a:ext cx="8414320" cy="149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4517"/>
                </a:lnSpc>
              </a:pPr>
              <a:r>
                <a:rPr lang="ar-EG" b="true" sz="347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  <a:rtl val="true"/>
                </a:rPr>
                <a:t>الذكاء الاصطناعي</a:t>
              </a:r>
            </a:p>
            <a:p>
              <a:pPr algn="ctr" marL="0" indent="0" lvl="0">
                <a:lnSpc>
                  <a:spcPts val="4517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8858250"/>
            <a:ext cx="20742442" cy="1943100"/>
            <a:chOff x="0" y="0"/>
            <a:chExt cx="5463030" cy="5117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63030" cy="511763"/>
            </a:xfrm>
            <a:custGeom>
              <a:avLst/>
              <a:gdLst/>
              <a:ahLst/>
              <a:cxnLst/>
              <a:rect r="r" b="b" t="t" l="l"/>
              <a:pathLst>
                <a:path h="511763" w="5463030">
                  <a:moveTo>
                    <a:pt x="0" y="0"/>
                  </a:moveTo>
                  <a:lnTo>
                    <a:pt x="5463030" y="0"/>
                  </a:lnTo>
                  <a:lnTo>
                    <a:pt x="5463030" y="511763"/>
                  </a:lnTo>
                  <a:lnTo>
                    <a:pt x="0" y="511763"/>
                  </a:lnTo>
                  <a:close/>
                </a:path>
              </a:pathLst>
            </a:custGeom>
            <a:solidFill>
              <a:srgbClr val="0364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463030" cy="521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57400"/>
            <a:ext cx="990423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9"/>
              </a:lnSpc>
            </a:pPr>
            <a:r>
              <a:rPr lang="ar-EG" sz="7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خطوات إنشاء المحتوى</a:t>
            </a:r>
          </a:p>
          <a:p>
            <a:pPr algn="l" marL="0" indent="0" lvl="0">
              <a:lnSpc>
                <a:spcPts val="824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728940" y="3813923"/>
            <a:ext cx="3424763" cy="4114800"/>
          </a:xfrm>
          <a:custGeom>
            <a:avLst/>
            <a:gdLst/>
            <a:ahLst/>
            <a:cxnLst/>
            <a:rect r="r" b="b" t="t" l="l"/>
            <a:pathLst>
              <a:path h="4114800" w="3424763">
                <a:moveTo>
                  <a:pt x="0" y="0"/>
                </a:moveTo>
                <a:lnTo>
                  <a:pt x="3424763" y="0"/>
                </a:lnTo>
                <a:lnTo>
                  <a:pt x="34247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52971" y="1028700"/>
            <a:ext cx="7410764" cy="7316445"/>
          </a:xfrm>
          <a:custGeom>
            <a:avLst/>
            <a:gdLst/>
            <a:ahLst/>
            <a:cxnLst/>
            <a:rect r="r" b="b" t="t" l="l"/>
            <a:pathLst>
              <a:path h="7316445" w="7410764">
                <a:moveTo>
                  <a:pt x="0" y="0"/>
                </a:moveTo>
                <a:lnTo>
                  <a:pt x="7410764" y="0"/>
                </a:lnTo>
                <a:lnTo>
                  <a:pt x="7410764" y="7316445"/>
                </a:lnTo>
                <a:lnTo>
                  <a:pt x="0" y="7316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2983" y="0"/>
            <a:ext cx="2230086" cy="10287000"/>
            <a:chOff x="0" y="0"/>
            <a:chExt cx="5873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73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7348">
                  <a:moveTo>
                    <a:pt x="0" y="0"/>
                  </a:moveTo>
                  <a:lnTo>
                    <a:pt x="587348" y="0"/>
                  </a:lnTo>
                  <a:lnTo>
                    <a:pt x="5873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4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58734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0"/>
            <a:ext cx="2230086" cy="10287000"/>
            <a:chOff x="0" y="0"/>
            <a:chExt cx="587348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73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587348">
                  <a:moveTo>
                    <a:pt x="0" y="0"/>
                  </a:moveTo>
                  <a:lnTo>
                    <a:pt x="587348" y="0"/>
                  </a:lnTo>
                  <a:lnTo>
                    <a:pt x="5873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45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58734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79952" y="593678"/>
            <a:ext cx="9669382" cy="208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6"/>
              </a:lnSpc>
            </a:pPr>
            <a:r>
              <a:rPr lang="ar-EG" sz="6805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تساؤل : ايه اصعب مهارة؟</a:t>
            </a:r>
          </a:p>
          <a:p>
            <a:pPr algn="l" marL="0" indent="0" lvl="0">
              <a:lnSpc>
                <a:spcPts val="8166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370409" y="2312622"/>
            <a:ext cx="7240613" cy="6864101"/>
          </a:xfrm>
          <a:custGeom>
            <a:avLst/>
            <a:gdLst/>
            <a:ahLst/>
            <a:cxnLst/>
            <a:rect r="r" b="b" t="t" l="l"/>
            <a:pathLst>
              <a:path h="6864101" w="7240613">
                <a:moveTo>
                  <a:pt x="0" y="0"/>
                </a:moveTo>
                <a:lnTo>
                  <a:pt x="7240613" y="0"/>
                </a:lnTo>
                <a:lnTo>
                  <a:pt x="7240613" y="6864101"/>
                </a:lnTo>
                <a:lnTo>
                  <a:pt x="0" y="6864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0409" y="7383078"/>
            <a:ext cx="3316410" cy="239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6358"/>
              </a:lnSpc>
            </a:pPr>
            <a:r>
              <a:rPr lang="ar-EG" b="true" sz="529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الفكرة</a:t>
            </a:r>
          </a:p>
          <a:p>
            <a:pPr algn="ctr">
              <a:lnSpc>
                <a:spcPts val="6358"/>
              </a:lnSpc>
              <a:spcBef>
                <a:spcPct val="0"/>
              </a:spcBef>
            </a:pPr>
            <a:r>
              <a:rPr lang="en-US" b="true" sz="529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Ide</a:t>
            </a:r>
            <a:r>
              <a:rPr lang="en-US" b="true" sz="529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</a:t>
            </a:r>
          </a:p>
          <a:p>
            <a:pPr algn="ctr">
              <a:lnSpc>
                <a:spcPts val="635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-1144837">
            <a:off x="6589317" y="6071692"/>
            <a:ext cx="2383983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140"/>
              </a:lnSpc>
            </a:pPr>
            <a:r>
              <a:rPr lang="ar-EG" b="true" sz="42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السكربت</a:t>
            </a:r>
          </a:p>
          <a:p>
            <a:pPr algn="ctr">
              <a:lnSpc>
                <a:spcPts val="5140"/>
              </a:lnSpc>
              <a:spcBef>
                <a:spcPct val="0"/>
              </a:spcBef>
            </a:pPr>
            <a:r>
              <a:rPr lang="en-US" b="true" sz="42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</a:t>
            </a:r>
            <a:r>
              <a:rPr lang="en-US" b="true" sz="428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ript</a:t>
            </a:r>
          </a:p>
          <a:p>
            <a:pPr algn="ctr">
              <a:lnSpc>
                <a:spcPts val="51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992523">
            <a:off x="2913110" y="3841191"/>
            <a:ext cx="2641456" cy="133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503"/>
              </a:lnSpc>
            </a:pPr>
            <a:r>
              <a:rPr lang="ar-EG" b="true" sz="291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التجهيز</a:t>
            </a:r>
          </a:p>
          <a:p>
            <a:pPr algn="ctr">
              <a:lnSpc>
                <a:spcPts val="3503"/>
              </a:lnSpc>
              <a:spcBef>
                <a:spcPct val="0"/>
              </a:spcBef>
            </a:pPr>
            <a:r>
              <a:rPr lang="en-US" b="true" sz="291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</a:t>
            </a:r>
            <a:r>
              <a:rPr lang="en-US" b="true" sz="291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re-production</a:t>
            </a:r>
          </a:p>
          <a:p>
            <a:pPr algn="ctr">
              <a:lnSpc>
                <a:spcPts val="3503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2403221">
            <a:off x="9463822" y="1134068"/>
            <a:ext cx="7125966" cy="6755416"/>
          </a:xfrm>
          <a:custGeom>
            <a:avLst/>
            <a:gdLst/>
            <a:ahLst/>
            <a:cxnLst/>
            <a:rect r="r" b="b" t="t" l="l"/>
            <a:pathLst>
              <a:path h="6755416" w="7125966">
                <a:moveTo>
                  <a:pt x="0" y="0"/>
                </a:moveTo>
                <a:lnTo>
                  <a:pt x="7125967" y="0"/>
                </a:lnTo>
                <a:lnTo>
                  <a:pt x="7125967" y="6755416"/>
                </a:lnTo>
                <a:lnTo>
                  <a:pt x="0" y="6755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2261920">
            <a:off x="11731402" y="6660980"/>
            <a:ext cx="2553178" cy="190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5000"/>
              </a:lnSpc>
            </a:pPr>
            <a:r>
              <a:rPr lang="ar-EG" b="true" sz="416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التقييم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  <a:r>
              <a:rPr lang="en-US" b="true" sz="416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</a:t>
            </a:r>
            <a:r>
              <a:rPr lang="en-US" b="true" sz="4166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aluation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1993531">
            <a:off x="13425857" y="3504769"/>
            <a:ext cx="3377037" cy="180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765"/>
              </a:lnSpc>
            </a:pPr>
            <a:r>
              <a:rPr lang="ar-EG" b="true" sz="39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التصوير</a:t>
            </a:r>
          </a:p>
          <a:p>
            <a:pPr algn="ctr">
              <a:lnSpc>
                <a:spcPts val="4765"/>
              </a:lnSpc>
              <a:spcBef>
                <a:spcPct val="0"/>
              </a:spcBef>
            </a:pPr>
            <a:r>
              <a:rPr lang="en-US" b="true" sz="39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</a:t>
            </a:r>
            <a:r>
              <a:rPr lang="en-US" b="true" sz="397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oduction</a:t>
            </a:r>
          </a:p>
          <a:p>
            <a:pPr algn="ctr">
              <a:lnSpc>
                <a:spcPts val="4765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-1440950">
            <a:off x="9721102" y="4083657"/>
            <a:ext cx="2650548" cy="129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402"/>
              </a:lnSpc>
            </a:pPr>
            <a:r>
              <a:rPr lang="ar-EG" b="true" sz="283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المونتاج</a:t>
            </a:r>
          </a:p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b="true" sz="283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</a:t>
            </a:r>
            <a:r>
              <a:rPr lang="en-US" b="true" sz="2835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ost-production</a:t>
            </a:r>
          </a:p>
          <a:p>
            <a:pPr algn="ctr">
              <a:lnSpc>
                <a:spcPts val="340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65364"/>
            <a:ext cx="3688357" cy="4114800"/>
          </a:xfrm>
          <a:custGeom>
            <a:avLst/>
            <a:gdLst/>
            <a:ahLst/>
            <a:cxnLst/>
            <a:rect r="r" b="b" t="t" l="l"/>
            <a:pathLst>
              <a:path h="4114800" w="3688357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65796">
            <a:off x="9302252" y="3008791"/>
            <a:ext cx="2197072" cy="938749"/>
          </a:xfrm>
          <a:custGeom>
            <a:avLst/>
            <a:gdLst/>
            <a:ahLst/>
            <a:cxnLst/>
            <a:rect r="r" b="b" t="t" l="l"/>
            <a:pathLst>
              <a:path h="938749" w="2197072">
                <a:moveTo>
                  <a:pt x="0" y="0"/>
                </a:moveTo>
                <a:lnTo>
                  <a:pt x="2197071" y="0"/>
                </a:lnTo>
                <a:lnTo>
                  <a:pt x="2197071" y="938749"/>
                </a:lnTo>
                <a:lnTo>
                  <a:pt x="0" y="938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78385" y="8866019"/>
            <a:ext cx="12509615" cy="1114145"/>
            <a:chOff x="0" y="0"/>
            <a:chExt cx="3294713" cy="2934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4713" cy="293437"/>
            </a:xfrm>
            <a:custGeom>
              <a:avLst/>
              <a:gdLst/>
              <a:ahLst/>
              <a:cxnLst/>
              <a:rect r="r" b="b" t="t" l="l"/>
              <a:pathLst>
                <a:path h="293437" w="3294713">
                  <a:moveTo>
                    <a:pt x="31563" y="0"/>
                  </a:moveTo>
                  <a:lnTo>
                    <a:pt x="3263150" y="0"/>
                  </a:lnTo>
                  <a:cubicBezTo>
                    <a:pt x="3280582" y="0"/>
                    <a:pt x="3294713" y="14131"/>
                    <a:pt x="3294713" y="31563"/>
                  </a:cubicBezTo>
                  <a:lnTo>
                    <a:pt x="3294713" y="261874"/>
                  </a:lnTo>
                  <a:cubicBezTo>
                    <a:pt x="3294713" y="270245"/>
                    <a:pt x="3291388" y="278274"/>
                    <a:pt x="3285469" y="284193"/>
                  </a:cubicBezTo>
                  <a:cubicBezTo>
                    <a:pt x="3279549" y="290112"/>
                    <a:pt x="3271522" y="293437"/>
                    <a:pt x="3263150" y="293437"/>
                  </a:cubicBezTo>
                  <a:lnTo>
                    <a:pt x="31563" y="293437"/>
                  </a:lnTo>
                  <a:cubicBezTo>
                    <a:pt x="23192" y="293437"/>
                    <a:pt x="15164" y="290112"/>
                    <a:pt x="9245" y="284193"/>
                  </a:cubicBezTo>
                  <a:cubicBezTo>
                    <a:pt x="3325" y="278274"/>
                    <a:pt x="0" y="270245"/>
                    <a:pt x="0" y="261874"/>
                  </a:cubicBezTo>
                  <a:lnTo>
                    <a:pt x="0" y="31563"/>
                  </a:lnTo>
                  <a:cubicBezTo>
                    <a:pt x="0" y="23192"/>
                    <a:pt x="3325" y="15164"/>
                    <a:pt x="9245" y="9245"/>
                  </a:cubicBezTo>
                  <a:cubicBezTo>
                    <a:pt x="15164" y="3325"/>
                    <a:pt x="23192" y="0"/>
                    <a:pt x="31563" y="0"/>
                  </a:cubicBezTo>
                  <a:close/>
                </a:path>
              </a:pathLst>
            </a:custGeom>
            <a:solidFill>
              <a:srgbClr val="FFF5D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3294713" cy="302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58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701396">
            <a:off x="5691825" y="8586227"/>
            <a:ext cx="1055971" cy="1673729"/>
          </a:xfrm>
          <a:custGeom>
            <a:avLst/>
            <a:gdLst/>
            <a:ahLst/>
            <a:cxnLst/>
            <a:rect r="r" b="b" t="t" l="l"/>
            <a:pathLst>
              <a:path h="1673729" w="1055971">
                <a:moveTo>
                  <a:pt x="1055970" y="0"/>
                </a:moveTo>
                <a:lnTo>
                  <a:pt x="0" y="0"/>
                </a:lnTo>
                <a:lnTo>
                  <a:pt x="0" y="1673729"/>
                </a:lnTo>
                <a:lnTo>
                  <a:pt x="1055970" y="1673729"/>
                </a:lnTo>
                <a:lnTo>
                  <a:pt x="105597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763585"/>
            <a:ext cx="16890184" cy="315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ar-EG" sz="41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السكربت</a:t>
            </a:r>
            <a:r>
              <a:rPr lang="ar-EG" b="true" sz="4170">
                <a:solidFill>
                  <a:srgbClr val="F46A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هو الخطة الى بيمشى عليها كل حاجة الفيديو والصوت …( قلب اي محتوى )</a:t>
            </a:r>
            <a:r>
              <a:rPr lang="ar-EG" sz="41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. وفقًا لـ</a:t>
            </a:r>
            <a:r>
              <a:rPr lang="en-US" sz="41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BBC، </a:t>
            </a:r>
            <a:r>
              <a:rPr lang="ar-EG" sz="41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أي إنتاج إعلامي ناجح</a:t>
            </a:r>
            <a:r>
              <a:rPr lang="ar-EG" sz="41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يبدأ بسكربت واضح</a:t>
            </a:r>
            <a:r>
              <a:rPr lang="en-US" sz="41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361128" y="930388"/>
            <a:ext cx="17620428" cy="168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3"/>
              </a:lnSpc>
            </a:pPr>
            <a:r>
              <a:rPr lang="ar-EG" sz="6513">
                <a:solidFill>
                  <a:srgbClr val="036459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السكربت:</a:t>
            </a:r>
            <a:r>
              <a:rPr lang="ar-EG" b="true" sz="6513" u="none">
                <a:solidFill>
                  <a:srgbClr val="036459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 مخطط الإنتاج الإعلامي</a:t>
            </a:r>
          </a:p>
          <a:p>
            <a:pPr algn="ctr" marL="0" indent="0" lvl="0">
              <a:lnSpc>
                <a:spcPts val="651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91725" y="9248775"/>
            <a:ext cx="11327159" cy="49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839"/>
              </a:lnSpc>
              <a:spcBef>
                <a:spcPct val="0"/>
              </a:spcBef>
            </a:pPr>
            <a:r>
              <a:rPr lang="ar-EG" sz="31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سؤال ؟ ايه اكتر شي بيأثر فيك عند مشاهدة فيديو ما مثلا فيديو المعرض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8132" y="333643"/>
            <a:ext cx="13651736" cy="9953357"/>
          </a:xfrm>
          <a:custGeom>
            <a:avLst/>
            <a:gdLst/>
            <a:ahLst/>
            <a:cxnLst/>
            <a:rect r="r" b="b" t="t" l="l"/>
            <a:pathLst>
              <a:path h="9953357" w="13651736">
                <a:moveTo>
                  <a:pt x="0" y="0"/>
                </a:moveTo>
                <a:lnTo>
                  <a:pt x="13651736" y="0"/>
                </a:lnTo>
                <a:lnTo>
                  <a:pt x="13651736" y="9953357"/>
                </a:lnTo>
                <a:lnTo>
                  <a:pt x="0" y="995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4218" y="1525651"/>
            <a:ext cx="7903437" cy="69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953"/>
              </a:lnSpc>
            </a:pPr>
            <a:r>
              <a:rPr lang="ar-EG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المقصود بالسكربت:</a:t>
            </a:r>
          </a:p>
          <a:p>
            <a:pPr algn="ctr" rtl="true" marL="1251077" indent="-625538" lvl="1">
              <a:lnSpc>
                <a:spcPts val="6953"/>
              </a:lnSpc>
              <a:buFont typeface="Arial"/>
              <a:buChar char="•"/>
            </a:pPr>
            <a:r>
              <a:rPr lang="ar-EG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الحوار / السرد</a:t>
            </a:r>
          </a:p>
          <a:p>
            <a:pPr algn="ctr" rtl="true" marL="1251077" indent="-625538" lvl="1">
              <a:lnSpc>
                <a:spcPts val="6953"/>
              </a:lnSpc>
              <a:spcBef>
                <a:spcPct val="0"/>
              </a:spcBef>
              <a:buFont typeface="Arial"/>
              <a:buChar char="•"/>
            </a:pPr>
            <a:r>
              <a:rPr lang="ar-EG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الوصف البصري “المشهد “ (</a:t>
            </a:r>
            <a:r>
              <a:rPr lang="en-US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</a:t>
            </a:r>
            <a:r>
              <a:rPr lang="en-US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uals</a:t>
            </a:r>
            <a:r>
              <a:rPr lang="ar-EG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)</a:t>
            </a:r>
          </a:p>
          <a:p>
            <a:pPr algn="ctr" rtl="true" marL="1251077" indent="-625538" lvl="1">
              <a:lnSpc>
                <a:spcPts val="6953"/>
              </a:lnSpc>
              <a:spcBef>
                <a:spcPct val="0"/>
              </a:spcBef>
              <a:buFont typeface="Arial"/>
              <a:buChar char="•"/>
            </a:pPr>
            <a:r>
              <a:rPr lang="ar-EG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التوقيت</a:t>
            </a:r>
          </a:p>
          <a:p>
            <a:pPr algn="ctr" rtl="true" marL="1251077" indent="-625538" lvl="1">
              <a:lnSpc>
                <a:spcPts val="6953"/>
              </a:lnSpc>
              <a:spcBef>
                <a:spcPct val="0"/>
              </a:spcBef>
              <a:buFont typeface="Arial"/>
              <a:buChar char="•"/>
            </a:pPr>
            <a:r>
              <a:rPr lang="ar-EG" sz="57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التوجيه العاطفي الاحساس </a:t>
            </a:r>
          </a:p>
          <a:p>
            <a:pPr algn="ctr" rtl="true">
              <a:lnSpc>
                <a:spcPts val="695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46383" y="853646"/>
            <a:ext cx="16230600" cy="19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9"/>
              </a:lnSpc>
            </a:pPr>
            <a:r>
              <a:rPr lang="en-US" sz="75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:</a:t>
            </a:r>
            <a:r>
              <a:rPr lang="ar-EG" sz="75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أنواع السكربت</a:t>
            </a:r>
          </a:p>
          <a:p>
            <a:pPr algn="ctr" marL="0" indent="0" lvl="0">
              <a:lnSpc>
                <a:spcPts val="759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-1617277" y="3332831"/>
            <a:ext cx="9027730" cy="2735722"/>
            <a:chOff x="0" y="0"/>
            <a:chExt cx="12036973" cy="364763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725600" y="0"/>
              <a:ext cx="6585772" cy="3647630"/>
              <a:chOff x="0" y="0"/>
              <a:chExt cx="4092088" cy="226646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92088" cy="2266465"/>
              </a:xfrm>
              <a:custGeom>
                <a:avLst/>
                <a:gdLst/>
                <a:ahLst/>
                <a:cxnLst/>
                <a:rect r="r" b="b" t="t" l="l"/>
                <a:pathLst>
                  <a:path h="2266465" w="4092088">
                    <a:moveTo>
                      <a:pt x="3967628" y="2266465"/>
                    </a:moveTo>
                    <a:lnTo>
                      <a:pt x="124460" y="2266465"/>
                    </a:lnTo>
                    <a:cubicBezTo>
                      <a:pt x="55880" y="2266465"/>
                      <a:pt x="0" y="2210585"/>
                      <a:pt x="0" y="21420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967628" y="0"/>
                    </a:lnTo>
                    <a:cubicBezTo>
                      <a:pt x="4036208" y="0"/>
                      <a:pt x="4092088" y="55880"/>
                      <a:pt x="4092088" y="124460"/>
                    </a:cubicBezTo>
                    <a:lnTo>
                      <a:pt x="4092088" y="2142005"/>
                    </a:lnTo>
                    <a:cubicBezTo>
                      <a:pt x="4092088" y="2210585"/>
                      <a:pt x="4036208" y="2266465"/>
                      <a:pt x="3967628" y="226646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3302931" y="2422854"/>
              <a:ext cx="5431110" cy="902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ar-EG" sz="224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سكربت ترويجي</a:t>
              </a:r>
            </a:p>
            <a:p>
              <a:pPr algn="ctr" marL="0" indent="0" lvl="0">
                <a:lnSpc>
                  <a:spcPts val="2691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39779"/>
              <a:ext cx="12036973" cy="2120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62"/>
                </a:lnSpc>
              </a:pPr>
              <a:r>
                <a:rPr lang="en-US" b="true" sz="4970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Promotional</a:t>
              </a:r>
            </a:p>
            <a:p>
              <a:pPr algn="ctr" marL="0" indent="0" lvl="0">
                <a:lnSpc>
                  <a:spcPts val="64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15392" y="3332831"/>
            <a:ext cx="11159759" cy="2735722"/>
            <a:chOff x="0" y="0"/>
            <a:chExt cx="14879678" cy="364763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3861172" y="0"/>
              <a:ext cx="6585772" cy="3647630"/>
              <a:chOff x="0" y="0"/>
              <a:chExt cx="4092088" cy="226646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92088" cy="2266465"/>
              </a:xfrm>
              <a:custGeom>
                <a:avLst/>
                <a:gdLst/>
                <a:ahLst/>
                <a:cxnLst/>
                <a:rect r="r" b="b" t="t" l="l"/>
                <a:pathLst>
                  <a:path h="2266465" w="4092088">
                    <a:moveTo>
                      <a:pt x="3967628" y="2266465"/>
                    </a:moveTo>
                    <a:lnTo>
                      <a:pt x="124460" y="2266465"/>
                    </a:lnTo>
                    <a:cubicBezTo>
                      <a:pt x="55880" y="2266465"/>
                      <a:pt x="0" y="2210585"/>
                      <a:pt x="0" y="21420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967628" y="0"/>
                    </a:lnTo>
                    <a:cubicBezTo>
                      <a:pt x="4036208" y="0"/>
                      <a:pt x="4092088" y="55880"/>
                      <a:pt x="4092088" y="124460"/>
                    </a:cubicBezTo>
                    <a:lnTo>
                      <a:pt x="4092088" y="2142005"/>
                    </a:lnTo>
                    <a:cubicBezTo>
                      <a:pt x="4092088" y="2210585"/>
                      <a:pt x="4036208" y="2266465"/>
                      <a:pt x="3967628" y="226646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38503" y="2500645"/>
              <a:ext cx="5431110" cy="902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ar-EG" sz="224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سكربت بودكاست</a:t>
              </a:r>
            </a:p>
            <a:p>
              <a:pPr algn="ctr" marL="0" indent="0" lvl="0">
                <a:lnSpc>
                  <a:spcPts val="2691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83175"/>
              <a:ext cx="14879678" cy="2619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88"/>
                </a:lnSpc>
              </a:pPr>
              <a:r>
                <a:rPr lang="en-US" b="true" sz="614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Podcast</a:t>
              </a:r>
            </a:p>
            <a:p>
              <a:pPr algn="ctr" marL="0" indent="0" lvl="0">
                <a:lnSpc>
                  <a:spcPts val="798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58539" y="3332831"/>
            <a:ext cx="10065745" cy="2735722"/>
            <a:chOff x="0" y="0"/>
            <a:chExt cx="13420993" cy="364763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3417611" y="0"/>
              <a:ext cx="6585772" cy="3647630"/>
              <a:chOff x="0" y="0"/>
              <a:chExt cx="4092088" cy="226646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92088" cy="2266465"/>
              </a:xfrm>
              <a:custGeom>
                <a:avLst/>
                <a:gdLst/>
                <a:ahLst/>
                <a:cxnLst/>
                <a:rect r="r" b="b" t="t" l="l"/>
                <a:pathLst>
                  <a:path h="2266465" w="4092088">
                    <a:moveTo>
                      <a:pt x="3967628" y="2266465"/>
                    </a:moveTo>
                    <a:lnTo>
                      <a:pt x="124460" y="2266465"/>
                    </a:lnTo>
                    <a:cubicBezTo>
                      <a:pt x="55880" y="2266465"/>
                      <a:pt x="0" y="2210585"/>
                      <a:pt x="0" y="21420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967628" y="0"/>
                    </a:lnTo>
                    <a:cubicBezTo>
                      <a:pt x="4036208" y="0"/>
                      <a:pt x="4092088" y="55880"/>
                      <a:pt x="4092088" y="124460"/>
                    </a:cubicBezTo>
                    <a:lnTo>
                      <a:pt x="4092088" y="2142005"/>
                    </a:lnTo>
                    <a:cubicBezTo>
                      <a:pt x="4092088" y="2210585"/>
                      <a:pt x="4036208" y="2266465"/>
                      <a:pt x="3967628" y="226646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239897" y="2266470"/>
              <a:ext cx="5431110" cy="902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ar-EG" sz="224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سكربت تعليمي</a:t>
              </a:r>
            </a:p>
            <a:p>
              <a:pPr algn="ctr" marL="0" indent="0" lvl="0">
                <a:lnSpc>
                  <a:spcPts val="2691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01561"/>
              <a:ext cx="13420993" cy="23778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5"/>
                </a:lnSpc>
              </a:pPr>
              <a:r>
                <a:rPr lang="en-US" b="true" sz="5542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Educational</a:t>
              </a:r>
            </a:p>
            <a:p>
              <a:pPr algn="ctr" marL="0" indent="0" lvl="0">
                <a:lnSpc>
                  <a:spcPts val="72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2874" y="6522578"/>
            <a:ext cx="7726757" cy="2735722"/>
            <a:chOff x="0" y="0"/>
            <a:chExt cx="10302342" cy="364763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58285" y="0"/>
              <a:ext cx="6585772" cy="3647630"/>
              <a:chOff x="0" y="0"/>
              <a:chExt cx="4092088" cy="226646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92088" cy="2266465"/>
              </a:xfrm>
              <a:custGeom>
                <a:avLst/>
                <a:gdLst/>
                <a:ahLst/>
                <a:cxnLst/>
                <a:rect r="r" b="b" t="t" l="l"/>
                <a:pathLst>
                  <a:path h="2266465" w="4092088">
                    <a:moveTo>
                      <a:pt x="3967628" y="2266465"/>
                    </a:moveTo>
                    <a:lnTo>
                      <a:pt x="124460" y="2266465"/>
                    </a:lnTo>
                    <a:cubicBezTo>
                      <a:pt x="55880" y="2266465"/>
                      <a:pt x="0" y="2210585"/>
                      <a:pt x="0" y="21420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967628" y="0"/>
                    </a:lnTo>
                    <a:cubicBezTo>
                      <a:pt x="4036208" y="0"/>
                      <a:pt x="4092088" y="55880"/>
                      <a:pt x="4092088" y="124460"/>
                    </a:cubicBezTo>
                    <a:lnTo>
                      <a:pt x="4092088" y="2142005"/>
                    </a:lnTo>
                    <a:cubicBezTo>
                      <a:pt x="4092088" y="2210585"/>
                      <a:pt x="4036208" y="2266465"/>
                      <a:pt x="3967628" y="226646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35616" y="2388947"/>
              <a:ext cx="5431110" cy="902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1"/>
                </a:lnSpc>
              </a:pPr>
              <a:r>
                <a:rPr lang="ar-EG" sz="224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سكربت سوشيال ميديا</a:t>
              </a:r>
            </a:p>
            <a:p>
              <a:pPr algn="ctr" marL="0" indent="0" lvl="0">
                <a:lnSpc>
                  <a:spcPts val="2691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889134"/>
              <a:ext cx="10302342" cy="18217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31"/>
                </a:lnSpc>
              </a:pPr>
              <a:r>
                <a:rPr lang="en-US" b="true" sz="4254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Social Media</a:t>
              </a:r>
            </a:p>
            <a:p>
              <a:pPr algn="ctr" marL="0" indent="0" lvl="0">
                <a:lnSpc>
                  <a:spcPts val="553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73105" y="6522578"/>
            <a:ext cx="7481378" cy="2735722"/>
            <a:chOff x="0" y="0"/>
            <a:chExt cx="9975170" cy="364763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1694699" y="0"/>
              <a:ext cx="6585772" cy="3647630"/>
              <a:chOff x="0" y="0"/>
              <a:chExt cx="4092088" cy="226646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92088" cy="2266465"/>
              </a:xfrm>
              <a:custGeom>
                <a:avLst/>
                <a:gdLst/>
                <a:ahLst/>
                <a:cxnLst/>
                <a:rect r="r" b="b" t="t" l="l"/>
                <a:pathLst>
                  <a:path h="2266465" w="4092088">
                    <a:moveTo>
                      <a:pt x="3967628" y="2266465"/>
                    </a:moveTo>
                    <a:lnTo>
                      <a:pt x="124460" y="2266465"/>
                    </a:lnTo>
                    <a:cubicBezTo>
                      <a:pt x="55880" y="2266465"/>
                      <a:pt x="0" y="2210585"/>
                      <a:pt x="0" y="2142005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967628" y="0"/>
                    </a:lnTo>
                    <a:cubicBezTo>
                      <a:pt x="4036208" y="0"/>
                      <a:pt x="4092088" y="55880"/>
                      <a:pt x="4092088" y="124460"/>
                    </a:cubicBezTo>
                    <a:lnTo>
                      <a:pt x="4092088" y="2142005"/>
                    </a:lnTo>
                    <a:cubicBezTo>
                      <a:pt x="4092088" y="2210585"/>
                      <a:pt x="4036208" y="2266465"/>
                      <a:pt x="3967628" y="2266465"/>
                    </a:cubicBezTo>
                    <a:close/>
                  </a:path>
                </a:pathLst>
              </a:custGeom>
              <a:solidFill>
                <a:srgbClr val="036459"/>
              </a:solid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94699" y="2524967"/>
              <a:ext cx="6702191" cy="1122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1"/>
                </a:lnSpc>
              </a:pPr>
              <a:r>
                <a:rPr lang="ar-EG" sz="2767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  <a:rtl val="true"/>
                </a:rPr>
                <a:t>سكربت وثائقي</a:t>
              </a:r>
            </a:p>
            <a:p>
              <a:pPr algn="ctr" marL="0" indent="0" lvl="0">
                <a:lnSpc>
                  <a:spcPts val="3321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926830"/>
              <a:ext cx="9975170" cy="1755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55"/>
                </a:lnSpc>
              </a:pPr>
              <a:r>
                <a:rPr lang="en-US" b="true" sz="4119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Documentary</a:t>
              </a:r>
            </a:p>
            <a:p>
              <a:pPr algn="ctr" marL="0" indent="0" lvl="0">
                <a:lnSpc>
                  <a:spcPts val="5355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4866" y="0"/>
            <a:ext cx="7714163" cy="10660276"/>
          </a:xfrm>
          <a:custGeom>
            <a:avLst/>
            <a:gdLst/>
            <a:ahLst/>
            <a:cxnLst/>
            <a:rect r="r" b="b" t="t" l="l"/>
            <a:pathLst>
              <a:path h="10660276" w="7714163">
                <a:moveTo>
                  <a:pt x="0" y="0"/>
                </a:moveTo>
                <a:lnTo>
                  <a:pt x="7714163" y="0"/>
                </a:lnTo>
                <a:lnTo>
                  <a:pt x="7714163" y="10660276"/>
                </a:lnTo>
                <a:lnTo>
                  <a:pt x="0" y="1066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2556351" y="4748370"/>
            <a:ext cx="5482337" cy="5538630"/>
          </a:xfrm>
          <a:custGeom>
            <a:avLst/>
            <a:gdLst/>
            <a:ahLst/>
            <a:cxnLst/>
            <a:rect r="r" b="b" t="t" l="l"/>
            <a:pathLst>
              <a:path h="5538630" w="5482337">
                <a:moveTo>
                  <a:pt x="5482337" y="0"/>
                </a:moveTo>
                <a:lnTo>
                  <a:pt x="0" y="0"/>
                </a:lnTo>
                <a:lnTo>
                  <a:pt x="0" y="5538630"/>
                </a:lnTo>
                <a:lnTo>
                  <a:pt x="5482337" y="5538630"/>
                </a:lnTo>
                <a:lnTo>
                  <a:pt x="5482337" y="0"/>
                </a:lnTo>
                <a:close/>
              </a:path>
            </a:pathLst>
          </a:custGeom>
          <a:blipFill>
            <a:blip r:embed="rId4"/>
            <a:stretch>
              <a:fillRect l="-1544" t="0" r="-154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46383" y="853646"/>
            <a:ext cx="16230600" cy="198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9"/>
              </a:lnSpc>
            </a:pPr>
            <a:r>
              <a:rPr lang="en-US" sz="75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:</a:t>
            </a:r>
            <a:r>
              <a:rPr lang="ar-EG" sz="75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أنواع السكربت</a:t>
            </a:r>
          </a:p>
          <a:p>
            <a:pPr algn="ctr" marL="0" indent="0" lvl="0">
              <a:lnSpc>
                <a:spcPts val="75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418280" y="4479165"/>
            <a:ext cx="6347336" cy="373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260"/>
              </a:lnSpc>
            </a:pPr>
          </a:p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n-US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ar-EG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بودكاست → شخصي وهادئ  سوشيال → سريع وتفاعلي</a:t>
            </a:r>
          </a:p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n-US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  <a:r>
              <a:rPr lang="ar-EG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شركات → رسمي وواثق</a:t>
            </a:r>
            <a:r>
              <a:rPr lang="en-US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•</a:t>
            </a:r>
          </a:p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n-US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ar-EG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شخصي → صادق وتجربة</a:t>
            </a:r>
            <a:r>
              <a:rPr lang="en-US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• </a:t>
            </a:r>
          </a:p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n-US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ar-EG" sz="355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أخبار → موضوعي ودقيق</a:t>
            </a:r>
          </a:p>
          <a:p>
            <a:pPr algn="ctr">
              <a:lnSpc>
                <a:spcPts val="426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747494" y="1947295"/>
            <a:ext cx="5688907" cy="168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6761"/>
              </a:lnSpc>
            </a:pPr>
            <a:r>
              <a:rPr lang="ar-EG" b="true" sz="4829">
                <a:solidFill>
                  <a:srgbClr val="000000"/>
                </a:solidFill>
                <a:latin typeface="Ara Hamah 1964 Bold"/>
                <a:ea typeface="Ara Hamah 1964 Bold"/>
                <a:cs typeface="Ara Hamah 1964 Bold"/>
                <a:sym typeface="Ara Hamah 1964 Bold"/>
                <a:rtl val="true"/>
              </a:rPr>
              <a:t>تخت</a:t>
            </a:r>
            <a:r>
              <a:rPr lang="ar-EG" b="true" sz="4829">
                <a:solidFill>
                  <a:srgbClr val="000000"/>
                </a:solidFill>
                <a:latin typeface="Ara Hamah 1964 Bold"/>
                <a:ea typeface="Ara Hamah 1964 Bold"/>
                <a:cs typeface="Ara Hamah 1964 Bold"/>
                <a:sym typeface="Ara Hamah 1964 Bold"/>
                <a:rtl val="true"/>
              </a:rPr>
              <a:t>لف الانواع باختلاف الهدف وكل منصة لها اسلوب معين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57869"/>
            <a:ext cx="6909733" cy="5329131"/>
          </a:xfrm>
          <a:custGeom>
            <a:avLst/>
            <a:gdLst/>
            <a:ahLst/>
            <a:cxnLst/>
            <a:rect r="r" b="b" t="t" l="l"/>
            <a:pathLst>
              <a:path h="5329131" w="6909733">
                <a:moveTo>
                  <a:pt x="0" y="0"/>
                </a:moveTo>
                <a:lnTo>
                  <a:pt x="6909733" y="0"/>
                </a:lnTo>
                <a:lnTo>
                  <a:pt x="6909733" y="5329131"/>
                </a:lnTo>
                <a:lnTo>
                  <a:pt x="0" y="5329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9907" y="805749"/>
            <a:ext cx="7804093" cy="161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4"/>
              </a:lnSpc>
              <a:spcBef>
                <a:spcPct val="0"/>
              </a:spcBef>
            </a:pPr>
            <a:r>
              <a:rPr lang="en-US" b="true" sz="106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Activity time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81097" y="2418277"/>
            <a:ext cx="7334369" cy="670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  <a:spcBef>
                <a:spcPct val="0"/>
              </a:spcBef>
            </a:pPr>
            <a:r>
              <a:rPr lang="en-US" b="true" sz="4033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Gr</a:t>
            </a:r>
            <a:r>
              <a:rPr lang="en-US" b="true" sz="4033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oup Story Building</a:t>
            </a:r>
          </a:p>
          <a:p>
            <a:pPr algn="ctr">
              <a:lnSpc>
                <a:spcPts val="4839"/>
              </a:lnSpc>
              <a:spcBef>
                <a:spcPct val="0"/>
              </a:spcBef>
            </a:pPr>
          </a:p>
          <a:p>
            <a:pPr algn="ctr">
              <a:lnSpc>
                <a:spcPts val="4839"/>
              </a:lnSpc>
              <a:spcBef>
                <a:spcPct val="0"/>
              </a:spcBef>
            </a:pPr>
            <a:r>
              <a:rPr lang="en-US" sz="40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Each person writes:</a:t>
            </a:r>
          </a:p>
          <a:p>
            <a:pPr algn="ctr">
              <a:lnSpc>
                <a:spcPts val="4839"/>
              </a:lnSpc>
              <a:spcBef>
                <a:spcPct val="0"/>
              </a:spcBef>
            </a:pPr>
          </a:p>
          <a:p>
            <a:pPr algn="ctr">
              <a:lnSpc>
                <a:spcPts val="4839"/>
              </a:lnSpc>
              <a:spcBef>
                <a:spcPct val="0"/>
              </a:spcBef>
            </a:pPr>
            <a:r>
              <a:rPr lang="en-US" sz="40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3–5 lines of a script</a:t>
            </a:r>
          </a:p>
          <a:p>
            <a:pPr algn="ctr">
              <a:lnSpc>
                <a:spcPts val="4839"/>
              </a:lnSpc>
              <a:spcBef>
                <a:spcPct val="0"/>
              </a:spcBef>
            </a:pPr>
          </a:p>
          <a:p>
            <a:pPr algn="ctr">
              <a:lnSpc>
                <a:spcPts val="4839"/>
              </a:lnSpc>
              <a:spcBef>
                <a:spcPct val="0"/>
              </a:spcBef>
            </a:pPr>
            <a:r>
              <a:rPr lang="en-US" sz="40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Then passes it to the next person.</a:t>
            </a:r>
          </a:p>
          <a:p>
            <a:pPr algn="ctr">
              <a:lnSpc>
                <a:spcPts val="4839"/>
              </a:lnSpc>
              <a:spcBef>
                <a:spcPct val="0"/>
              </a:spcBef>
            </a:pPr>
          </a:p>
          <a:p>
            <a:pPr algn="ctr">
              <a:lnSpc>
                <a:spcPts val="4839"/>
              </a:lnSpc>
              <a:spcBef>
                <a:spcPct val="0"/>
              </a:spcBef>
            </a:pPr>
            <a:r>
              <a:rPr lang="en-US" b="true" sz="403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 the end:</a:t>
            </a:r>
          </a:p>
          <a:p>
            <a:pPr algn="ctr">
              <a:lnSpc>
                <a:spcPts val="4839"/>
              </a:lnSpc>
              <a:spcBef>
                <a:spcPct val="0"/>
              </a:spcBef>
            </a:pPr>
            <a:r>
              <a:rPr lang="en-US" sz="403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Read the full chaotic story </a:t>
            </a:r>
          </a:p>
          <a:p>
            <a:pPr algn="ctr">
              <a:lnSpc>
                <a:spcPts val="48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8858250"/>
            <a:ext cx="20742442" cy="1943100"/>
            <a:chOff x="0" y="0"/>
            <a:chExt cx="5463030" cy="5117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63030" cy="511763"/>
            </a:xfrm>
            <a:custGeom>
              <a:avLst/>
              <a:gdLst/>
              <a:ahLst/>
              <a:cxnLst/>
              <a:rect r="r" b="b" t="t" l="l"/>
              <a:pathLst>
                <a:path h="511763" w="5463030">
                  <a:moveTo>
                    <a:pt x="0" y="0"/>
                  </a:moveTo>
                  <a:lnTo>
                    <a:pt x="5463030" y="0"/>
                  </a:lnTo>
                  <a:lnTo>
                    <a:pt x="5463030" y="511763"/>
                  </a:lnTo>
                  <a:lnTo>
                    <a:pt x="0" y="511763"/>
                  </a:lnTo>
                  <a:close/>
                </a:path>
              </a:pathLst>
            </a:custGeom>
            <a:solidFill>
              <a:srgbClr val="0364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463030" cy="521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52765" y="4277728"/>
            <a:ext cx="6326362" cy="4980572"/>
          </a:xfrm>
          <a:custGeom>
            <a:avLst/>
            <a:gdLst/>
            <a:ahLst/>
            <a:cxnLst/>
            <a:rect r="r" b="b" t="t" l="l"/>
            <a:pathLst>
              <a:path h="4980572" w="6326362">
                <a:moveTo>
                  <a:pt x="0" y="0"/>
                </a:moveTo>
                <a:lnTo>
                  <a:pt x="6326362" y="0"/>
                </a:lnTo>
                <a:lnTo>
                  <a:pt x="6326362" y="4980572"/>
                </a:lnTo>
                <a:lnTo>
                  <a:pt x="0" y="498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72361">
            <a:off x="11788670" y="1150539"/>
            <a:ext cx="3744431" cy="3871122"/>
          </a:xfrm>
          <a:custGeom>
            <a:avLst/>
            <a:gdLst/>
            <a:ahLst/>
            <a:cxnLst/>
            <a:rect r="r" b="b" t="t" l="l"/>
            <a:pathLst>
              <a:path h="3871122" w="3744431">
                <a:moveTo>
                  <a:pt x="0" y="0"/>
                </a:moveTo>
                <a:lnTo>
                  <a:pt x="3744430" y="0"/>
                </a:lnTo>
                <a:lnTo>
                  <a:pt x="3744430" y="3871122"/>
                </a:lnTo>
                <a:lnTo>
                  <a:pt x="0" y="3871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6723" y="3712596"/>
            <a:ext cx="10626042" cy="305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1753"/>
              </a:lnSpc>
            </a:pPr>
            <a:r>
              <a:rPr lang="ar-EG" b="true" sz="11753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  <a:rtl val="true"/>
              </a:rPr>
              <a:t>خصائص السك</a:t>
            </a:r>
            <a:r>
              <a:rPr lang="ar-EG" b="true" sz="11753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  <a:rtl val="true"/>
              </a:rPr>
              <a:t>ربت القوي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46702" y="2821732"/>
            <a:ext cx="2015192" cy="2304273"/>
          </a:xfrm>
          <a:custGeom>
            <a:avLst/>
            <a:gdLst/>
            <a:ahLst/>
            <a:cxnLst/>
            <a:rect r="r" b="b" t="t" l="l"/>
            <a:pathLst>
              <a:path h="2304273" w="2015192">
                <a:moveTo>
                  <a:pt x="0" y="0"/>
                </a:moveTo>
                <a:lnTo>
                  <a:pt x="2015191" y="0"/>
                </a:lnTo>
                <a:lnTo>
                  <a:pt x="2015191" y="2304273"/>
                </a:lnTo>
                <a:lnTo>
                  <a:pt x="0" y="2304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46704" y="6954027"/>
            <a:ext cx="2193407" cy="2508054"/>
          </a:xfrm>
          <a:custGeom>
            <a:avLst/>
            <a:gdLst/>
            <a:ahLst/>
            <a:cxnLst/>
            <a:rect r="r" b="b" t="t" l="l"/>
            <a:pathLst>
              <a:path h="2508054" w="2193407">
                <a:moveTo>
                  <a:pt x="0" y="0"/>
                </a:moveTo>
                <a:lnTo>
                  <a:pt x="2193407" y="0"/>
                </a:lnTo>
                <a:lnTo>
                  <a:pt x="2193407" y="2508054"/>
                </a:lnTo>
                <a:lnTo>
                  <a:pt x="0" y="2508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49275" y="1669595"/>
            <a:ext cx="2015192" cy="2304273"/>
          </a:xfrm>
          <a:custGeom>
            <a:avLst/>
            <a:gdLst/>
            <a:ahLst/>
            <a:cxnLst/>
            <a:rect r="r" b="b" t="t" l="l"/>
            <a:pathLst>
              <a:path h="2304273" w="2015192">
                <a:moveTo>
                  <a:pt x="0" y="0"/>
                </a:moveTo>
                <a:lnTo>
                  <a:pt x="2015192" y="0"/>
                </a:lnTo>
                <a:lnTo>
                  <a:pt x="2015192" y="2304273"/>
                </a:lnTo>
                <a:lnTo>
                  <a:pt x="0" y="2304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479" y="3884434"/>
            <a:ext cx="3194931" cy="4920515"/>
            <a:chOff x="0" y="0"/>
            <a:chExt cx="2623191" cy="40399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3191" cy="4039978"/>
            </a:xfrm>
            <a:custGeom>
              <a:avLst/>
              <a:gdLst/>
              <a:ahLst/>
              <a:cxnLst/>
              <a:rect r="r" b="b" t="t" l="l"/>
              <a:pathLst>
                <a:path h="4039978" w="2623191">
                  <a:moveTo>
                    <a:pt x="2498731" y="4039977"/>
                  </a:moveTo>
                  <a:lnTo>
                    <a:pt x="124460" y="4039977"/>
                  </a:lnTo>
                  <a:cubicBezTo>
                    <a:pt x="55880" y="4039977"/>
                    <a:pt x="0" y="3984098"/>
                    <a:pt x="0" y="39155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915518"/>
                  </a:lnTo>
                  <a:cubicBezTo>
                    <a:pt x="2623191" y="3984098"/>
                    <a:pt x="2567311" y="4039978"/>
                    <a:pt x="2498731" y="4039978"/>
                  </a:cubicBezTo>
                  <a:close/>
                </a:path>
              </a:pathLst>
            </a:custGeom>
            <a:solidFill>
              <a:srgbClr val="FFF5D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75007" y="3884434"/>
            <a:ext cx="3194931" cy="4920515"/>
            <a:chOff x="0" y="0"/>
            <a:chExt cx="2623191" cy="40399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23191" cy="4039978"/>
            </a:xfrm>
            <a:custGeom>
              <a:avLst/>
              <a:gdLst/>
              <a:ahLst/>
              <a:cxnLst/>
              <a:rect r="r" b="b" t="t" l="l"/>
              <a:pathLst>
                <a:path h="4039978" w="2623191">
                  <a:moveTo>
                    <a:pt x="2498731" y="4039977"/>
                  </a:moveTo>
                  <a:lnTo>
                    <a:pt x="124460" y="4039977"/>
                  </a:lnTo>
                  <a:cubicBezTo>
                    <a:pt x="55880" y="4039977"/>
                    <a:pt x="0" y="3984098"/>
                    <a:pt x="0" y="39155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915518"/>
                  </a:lnTo>
                  <a:cubicBezTo>
                    <a:pt x="2623191" y="3984098"/>
                    <a:pt x="2567311" y="4039978"/>
                    <a:pt x="2498731" y="4039978"/>
                  </a:cubicBezTo>
                  <a:close/>
                </a:path>
              </a:pathLst>
            </a:custGeom>
            <a:solidFill>
              <a:srgbClr val="FFF5D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6534" y="3884434"/>
            <a:ext cx="3194931" cy="4920515"/>
            <a:chOff x="0" y="0"/>
            <a:chExt cx="2623191" cy="40399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3191" cy="4039978"/>
            </a:xfrm>
            <a:custGeom>
              <a:avLst/>
              <a:gdLst/>
              <a:ahLst/>
              <a:cxnLst/>
              <a:rect r="r" b="b" t="t" l="l"/>
              <a:pathLst>
                <a:path h="4039978" w="2623191">
                  <a:moveTo>
                    <a:pt x="2498731" y="4039977"/>
                  </a:moveTo>
                  <a:lnTo>
                    <a:pt x="124460" y="4039977"/>
                  </a:lnTo>
                  <a:cubicBezTo>
                    <a:pt x="55880" y="4039977"/>
                    <a:pt x="0" y="3984098"/>
                    <a:pt x="0" y="39155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915518"/>
                  </a:lnTo>
                  <a:cubicBezTo>
                    <a:pt x="2623191" y="3984098"/>
                    <a:pt x="2567311" y="4039978"/>
                    <a:pt x="2498731" y="4039978"/>
                  </a:cubicBezTo>
                  <a:close/>
                </a:path>
              </a:pathLst>
            </a:custGeom>
            <a:solidFill>
              <a:srgbClr val="FFF5D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27163" y="6447287"/>
            <a:ext cx="2513157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1"/>
              </a:lnSpc>
            </a:pPr>
            <a:r>
              <a:rPr lang="ar-EG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وعي الجمهور (تناسب مع الفئة العمرية )</a:t>
            </a:r>
          </a:p>
          <a:p>
            <a:pPr algn="ctr" marL="0" indent="0" lvl="0">
              <a:lnSpc>
                <a:spcPts val="310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118062" y="3884434"/>
            <a:ext cx="3194931" cy="4920515"/>
            <a:chOff x="0" y="0"/>
            <a:chExt cx="2623191" cy="4039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23191" cy="4039978"/>
            </a:xfrm>
            <a:custGeom>
              <a:avLst/>
              <a:gdLst/>
              <a:ahLst/>
              <a:cxnLst/>
              <a:rect r="r" b="b" t="t" l="l"/>
              <a:pathLst>
                <a:path h="4039978" w="2623191">
                  <a:moveTo>
                    <a:pt x="2498731" y="4039977"/>
                  </a:moveTo>
                  <a:lnTo>
                    <a:pt x="124460" y="4039977"/>
                  </a:lnTo>
                  <a:cubicBezTo>
                    <a:pt x="55880" y="4039977"/>
                    <a:pt x="0" y="3984098"/>
                    <a:pt x="0" y="39155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915518"/>
                  </a:lnTo>
                  <a:cubicBezTo>
                    <a:pt x="2623191" y="3984098"/>
                    <a:pt x="2567311" y="4039978"/>
                    <a:pt x="2498731" y="4039978"/>
                  </a:cubicBezTo>
                  <a:close/>
                </a:path>
              </a:pathLst>
            </a:custGeom>
            <a:solidFill>
              <a:srgbClr val="FFF5D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89590" y="3884434"/>
            <a:ext cx="3194931" cy="4920515"/>
            <a:chOff x="0" y="0"/>
            <a:chExt cx="2623191" cy="403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23191" cy="4039978"/>
            </a:xfrm>
            <a:custGeom>
              <a:avLst/>
              <a:gdLst/>
              <a:ahLst/>
              <a:cxnLst/>
              <a:rect r="r" b="b" t="t" l="l"/>
              <a:pathLst>
                <a:path h="4039978" w="2623191">
                  <a:moveTo>
                    <a:pt x="2498731" y="4039977"/>
                  </a:moveTo>
                  <a:lnTo>
                    <a:pt x="124460" y="4039977"/>
                  </a:lnTo>
                  <a:cubicBezTo>
                    <a:pt x="55880" y="4039977"/>
                    <a:pt x="0" y="3984098"/>
                    <a:pt x="0" y="39155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915518"/>
                  </a:lnTo>
                  <a:cubicBezTo>
                    <a:pt x="2623191" y="3984098"/>
                    <a:pt x="2567311" y="4039978"/>
                    <a:pt x="2498731" y="4039978"/>
                  </a:cubicBezTo>
                  <a:close/>
                </a:path>
              </a:pathLst>
            </a:custGeom>
            <a:solidFill>
              <a:srgbClr val="FFF5D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44049" y="6750982"/>
            <a:ext cx="251315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1"/>
              </a:lnSpc>
            </a:pPr>
            <a:r>
              <a:rPr lang="ar-EG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الوضوح والبساطة</a:t>
            </a:r>
          </a:p>
          <a:p>
            <a:pPr algn="ctr" marL="0" indent="0" lvl="0">
              <a:lnSpc>
                <a:spcPts val="310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259470" y="6555719"/>
            <a:ext cx="262600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1"/>
              </a:lnSpc>
            </a:pPr>
            <a:r>
              <a:rPr lang="ar-EG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التفاعل</a:t>
            </a:r>
          </a:p>
          <a:p>
            <a:pPr algn="ctr">
              <a:lnSpc>
                <a:spcPts val="3101"/>
              </a:lnSpc>
            </a:pPr>
            <a:r>
              <a:rPr lang="en-US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</a:t>
            </a:r>
            <a:r>
              <a:rPr lang="ar-EG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اظهار المشاعر</a:t>
            </a:r>
            <a:r>
              <a:rPr lang="en-US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)</a:t>
            </a:r>
          </a:p>
          <a:p>
            <a:pPr algn="ctr" marL="0" indent="0" lvl="0">
              <a:lnSpc>
                <a:spcPts val="310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118062" y="6447287"/>
            <a:ext cx="31949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1"/>
              </a:lnSpc>
            </a:pPr>
            <a:r>
              <a:rPr lang="ar-EG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الانسجام البصري</a:t>
            </a:r>
          </a:p>
          <a:p>
            <a:pPr algn="ctr">
              <a:lnSpc>
                <a:spcPts val="3101"/>
              </a:lnSpc>
            </a:pPr>
            <a:r>
              <a:rPr lang="en-US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 </a:t>
            </a:r>
            <a:r>
              <a:rPr lang="ar-EG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متناسق مع الصورة</a:t>
            </a:r>
            <a:r>
              <a:rPr lang="en-US" sz="2584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)</a:t>
            </a:r>
          </a:p>
          <a:p>
            <a:pPr algn="ctr" marL="0" indent="0" lvl="0">
              <a:lnSpc>
                <a:spcPts val="310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09650"/>
            <a:ext cx="162306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EC7806"/>
                </a:solidFill>
                <a:latin typeface="Bernoru"/>
                <a:ea typeface="Bernoru"/>
                <a:cs typeface="Bernoru"/>
                <a:sym typeface="Bernoru"/>
              </a:rPr>
              <a:t>Research Task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409013"/>
            <a:ext cx="1623060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Conduct research and make a list of ten potential topics for an interpretive feature article. Consider: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93993" y="6456812"/>
            <a:ext cx="3193957" cy="148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2"/>
              </a:lnSpc>
            </a:pPr>
            <a:r>
              <a:rPr lang="ar-EG" sz="3285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التأثير</a:t>
            </a:r>
          </a:p>
          <a:p>
            <a:pPr algn="ctr">
              <a:lnSpc>
                <a:spcPts val="3942"/>
              </a:lnSpc>
            </a:pPr>
            <a:r>
              <a:rPr lang="en-US" sz="3285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 </a:t>
            </a:r>
            <a:r>
              <a:rPr lang="ar-EG" sz="3285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يترك بك اثر</a:t>
            </a:r>
            <a:r>
              <a:rPr lang="en-US" sz="3285">
                <a:solidFill>
                  <a:srgbClr val="03645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)</a:t>
            </a:r>
          </a:p>
          <a:p>
            <a:pPr algn="ctr" marL="0" indent="0" lvl="0">
              <a:lnSpc>
                <a:spcPts val="394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-106774" y="5263997"/>
            <a:ext cx="4214803" cy="120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3"/>
              </a:lnSpc>
            </a:pPr>
            <a:r>
              <a:rPr lang="en-US" b="true" sz="397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Clarity</a:t>
            </a:r>
          </a:p>
          <a:p>
            <a:pPr algn="ctr" marL="0" indent="0" lvl="0">
              <a:lnSpc>
                <a:spcPts val="477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975007" y="5263997"/>
            <a:ext cx="3343488" cy="96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3155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Engagement</a:t>
            </a:r>
          </a:p>
          <a:p>
            <a:pPr algn="ctr" marL="0" indent="0" lvl="0">
              <a:lnSpc>
                <a:spcPts val="37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546534" y="4851535"/>
            <a:ext cx="3194931" cy="137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8"/>
              </a:lnSpc>
            </a:pPr>
            <a:r>
              <a:rPr lang="en-US" b="true" sz="301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Audience Awareness</a:t>
            </a:r>
          </a:p>
          <a:p>
            <a:pPr algn="ctr" marL="0" indent="0" lvl="0">
              <a:lnSpc>
                <a:spcPts val="3618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234284" y="5188882"/>
            <a:ext cx="2962488" cy="85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5"/>
              </a:lnSpc>
            </a:pPr>
            <a:r>
              <a:rPr lang="en-US" sz="2795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Visual Alignment</a:t>
            </a:r>
          </a:p>
          <a:p>
            <a:pPr algn="ctr" marL="0" indent="0" lvl="0">
              <a:lnSpc>
                <a:spcPts val="335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4167800" y="5121939"/>
            <a:ext cx="3716721" cy="110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9"/>
              </a:lnSpc>
            </a:pPr>
            <a:r>
              <a:rPr lang="en-US" sz="3658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Impact</a:t>
            </a:r>
          </a:p>
          <a:p>
            <a:pPr algn="ctr" marL="0" indent="0" lvl="0">
              <a:lnSpc>
                <a:spcPts val="438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61091" y="5143500"/>
            <a:ext cx="1371686" cy="1587969"/>
          </a:xfrm>
          <a:custGeom>
            <a:avLst/>
            <a:gdLst/>
            <a:ahLst/>
            <a:cxnLst/>
            <a:rect r="r" b="b" t="t" l="l"/>
            <a:pathLst>
              <a:path h="1587969" w="1371686">
                <a:moveTo>
                  <a:pt x="0" y="0"/>
                </a:moveTo>
                <a:lnTo>
                  <a:pt x="1371686" y="0"/>
                </a:lnTo>
                <a:lnTo>
                  <a:pt x="1371686" y="1587969"/>
                </a:lnTo>
                <a:lnTo>
                  <a:pt x="0" y="1587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97044" y="5030601"/>
            <a:ext cx="913791" cy="1868347"/>
          </a:xfrm>
          <a:custGeom>
            <a:avLst/>
            <a:gdLst/>
            <a:ahLst/>
            <a:cxnLst/>
            <a:rect r="r" b="b" t="t" l="l"/>
            <a:pathLst>
              <a:path h="1868347" w="913791">
                <a:moveTo>
                  <a:pt x="0" y="0"/>
                </a:moveTo>
                <a:lnTo>
                  <a:pt x="913791" y="0"/>
                </a:lnTo>
                <a:lnTo>
                  <a:pt x="913791" y="1868347"/>
                </a:lnTo>
                <a:lnTo>
                  <a:pt x="0" y="18683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2811" y="7223934"/>
            <a:ext cx="1034406" cy="1034406"/>
          </a:xfrm>
          <a:custGeom>
            <a:avLst/>
            <a:gdLst/>
            <a:ahLst/>
            <a:cxnLst/>
            <a:rect r="r" b="b" t="t" l="l"/>
            <a:pathLst>
              <a:path h="1034406" w="1034406">
                <a:moveTo>
                  <a:pt x="0" y="0"/>
                </a:moveTo>
                <a:lnTo>
                  <a:pt x="1034406" y="0"/>
                </a:lnTo>
                <a:lnTo>
                  <a:pt x="1034406" y="1034406"/>
                </a:lnTo>
                <a:lnTo>
                  <a:pt x="0" y="1034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3200" y="67440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1975" y="1002494"/>
            <a:ext cx="1496405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ar-EG" sz="6000">
                <a:solidFill>
                  <a:srgbClr val="EC7806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كيف نجعل السكربت حيًا؟</a:t>
            </a:r>
          </a:p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88633" y="5143500"/>
            <a:ext cx="5599367" cy="190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791"/>
              </a:lnSpc>
            </a:pPr>
            <a:r>
              <a:rPr lang="ar-EG" b="true" sz="315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استخدام لغة حسية ( كلمات تصف احساس )</a:t>
            </a:r>
          </a:p>
          <a:p>
            <a:pPr algn="ctr">
              <a:lnSpc>
                <a:spcPts val="3791"/>
              </a:lnSpc>
              <a:spcBef>
                <a:spcPct val="0"/>
              </a:spcBef>
            </a:pPr>
          </a:p>
          <a:p>
            <a:pPr algn="ctr">
              <a:lnSpc>
                <a:spcPts val="379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60014" y="4910155"/>
            <a:ext cx="5790018" cy="147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ar-EG" sz="3267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هوك قوي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3267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</a:t>
            </a:r>
            <a:r>
              <a:rPr lang="en-US" b="true" sz="3267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ong hook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772294" y="3212294"/>
            <a:ext cx="5688797" cy="145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  <a:spcBef>
                <a:spcPct val="0"/>
              </a:spcBef>
            </a:pPr>
            <a:r>
              <a:rPr lang="en-US" b="true" sz="321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</a:t>
            </a:r>
            <a:r>
              <a:rPr lang="en-US" b="true" sz="321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rect address to audience</a:t>
            </a:r>
          </a:p>
          <a:p>
            <a:pPr algn="ctr">
              <a:lnSpc>
                <a:spcPts val="3852"/>
              </a:lnSpc>
              <a:spcBef>
                <a:spcPct val="0"/>
              </a:spcBef>
            </a:pPr>
          </a:p>
          <a:p>
            <a:pPr algn="ctr" rtl="true">
              <a:lnSpc>
                <a:spcPts val="3852"/>
              </a:lnSpc>
              <a:spcBef>
                <a:spcPct val="0"/>
              </a:spcBef>
            </a:pPr>
            <a:r>
              <a:rPr lang="ar-EG" b="true" sz="321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خطاب مباشر للجمهور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87108" y="6999167"/>
            <a:ext cx="2891102" cy="180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4"/>
              </a:lnSpc>
              <a:spcBef>
                <a:spcPct val="0"/>
              </a:spcBef>
            </a:pPr>
            <a:r>
              <a:rPr lang="ar-EG" b="true" sz="396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نبرة</a:t>
            </a:r>
            <a:r>
              <a:rPr lang="ar-EG" b="true" sz="396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طبيعية</a:t>
            </a:r>
          </a:p>
          <a:p>
            <a:pPr algn="ctr">
              <a:lnSpc>
                <a:spcPts val="4754"/>
              </a:lnSpc>
              <a:spcBef>
                <a:spcPct val="0"/>
              </a:spcBef>
            </a:pPr>
            <a:r>
              <a:rPr lang="en-US" b="true" sz="3962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Natural tone</a:t>
            </a:r>
          </a:p>
          <a:p>
            <a:pPr algn="ctr">
              <a:lnSpc>
                <a:spcPts val="475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28221" y="7731612"/>
            <a:ext cx="4368823" cy="198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ar-EG" b="true" sz="436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ختام</a:t>
            </a:r>
            <a:r>
              <a:rPr lang="ar-EG" b="true" sz="436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مؤثر</a:t>
            </a:r>
          </a:p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b="true" sz="4363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Impactful ending</a:t>
            </a:r>
          </a:p>
          <a:p>
            <a:pPr algn="ctr">
              <a:lnSpc>
                <a:spcPts val="52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4780" y="3578516"/>
            <a:ext cx="4251555" cy="113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532"/>
              </a:lnSpc>
            </a:pPr>
            <a:r>
              <a:rPr lang="en-US" sz="3486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Hook</a:t>
            </a:r>
            <a:r>
              <a:rPr lang="ar-EG" sz="3486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(الهوك):</a:t>
            </a:r>
          </a:p>
          <a:p>
            <a:pPr algn="r" rtl="true" marL="0" indent="0" lvl="0">
              <a:lnSpc>
                <a:spcPts val="4532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12745" y="1009650"/>
            <a:ext cx="1380535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Anatomy of a Script: </a:t>
            </a:r>
            <a:r>
              <a:rPr lang="ar-EG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بنية السكربت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977675" y="3463296"/>
            <a:ext cx="884490" cy="88449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977675" y="3281628"/>
            <a:ext cx="847775" cy="10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8"/>
              </a:lnSpc>
            </a:pPr>
            <a:r>
              <a:rPr lang="en-US" b="true" sz="559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977675" y="5382295"/>
            <a:ext cx="884490" cy="88449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113714" y="5425558"/>
            <a:ext cx="612412" cy="75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348"/>
              </a:lnSpc>
              <a:spcBef>
                <a:spcPct val="0"/>
              </a:spcBef>
            </a:pPr>
            <a:r>
              <a:rPr lang="en-US" b="true" sz="4043" u="non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977675" y="7301294"/>
            <a:ext cx="884490" cy="88449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977675" y="7212202"/>
            <a:ext cx="719774" cy="89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461"/>
              </a:lnSpc>
              <a:spcBef>
                <a:spcPct val="0"/>
              </a:spcBef>
            </a:pPr>
            <a:r>
              <a:rPr lang="en-US" b="true" sz="4752" u="non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8649" y="5464876"/>
            <a:ext cx="12414024" cy="15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00"/>
              </a:lnSpc>
            </a:pPr>
            <a:r>
              <a:rPr lang="ar-EG" sz="33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توضحي ليش الموضوع مهم + ليش نحكي عنه الآن. عرّفي المشكلة بسرعة واربطيها بالجمهور</a:t>
            </a:r>
          </a:p>
          <a:p>
            <a:pPr algn="r" rtl="true" marL="0" indent="0" lvl="0">
              <a:lnSpc>
                <a:spcPts val="4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52425" y="7714718"/>
            <a:ext cx="12389140" cy="15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00"/>
              </a:lnSpc>
            </a:pPr>
            <a:r>
              <a:rPr lang="ar-EG" sz="33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هاي قلب السكربت. حددي فكرة واحدة فقط تكون واضحة جدًا وتتكرر بشكل ذكي</a:t>
            </a:r>
          </a:p>
          <a:p>
            <a:pPr algn="r" rtl="true" marL="0" indent="0" lvl="0">
              <a:lnSpc>
                <a:spcPts val="40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52425" y="3453771"/>
            <a:ext cx="12389140" cy="15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00"/>
              </a:lnSpc>
            </a:pPr>
            <a:r>
              <a:rPr lang="ar-EG" sz="33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تخلي المشاهد يوقف السكروول فورًا. ابدئي بسؤال أو جملة صادمة أو مشكلة تهم الجمهور أو تخيّل (</a:t>
            </a:r>
            <a:r>
              <a:rPr lang="en-US" sz="33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Imagine</a:t>
            </a:r>
            <a:r>
              <a:rPr lang="ar-EG" sz="333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…)</a:t>
            </a:r>
          </a:p>
          <a:p>
            <a:pPr algn="r" rtl="true" marL="0" indent="0" lvl="0">
              <a:lnSpc>
                <a:spcPts val="40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262154" y="5341710"/>
            <a:ext cx="3436041" cy="153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096"/>
              </a:lnSpc>
            </a:pPr>
            <a:r>
              <a:rPr lang="en-US" sz="3151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Set-up / Context</a:t>
            </a:r>
            <a:r>
              <a:rPr lang="ar-EG" sz="3151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(التمهيد):</a:t>
            </a:r>
          </a:p>
          <a:p>
            <a:pPr algn="l" marL="0" indent="0" lvl="0">
              <a:lnSpc>
                <a:spcPts val="409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982673" y="7263194"/>
            <a:ext cx="3715521" cy="149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961"/>
              </a:lnSpc>
            </a:pPr>
            <a:r>
              <a:rPr lang="en-US" sz="3047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Core Message</a:t>
            </a:r>
            <a:r>
              <a:rPr lang="ar-EG" sz="3047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(الفكرة الأساسية):</a:t>
            </a:r>
          </a:p>
          <a:p>
            <a:pPr algn="r" rtl="true" marL="0" indent="0" lvl="0">
              <a:lnSpc>
                <a:spcPts val="396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9506" y="3434091"/>
            <a:ext cx="4017425" cy="161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283"/>
              </a:lnSpc>
            </a:pPr>
            <a:r>
              <a:rPr lang="en-US" sz="3294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Evidence / Story</a:t>
            </a:r>
            <a:r>
              <a:rPr lang="ar-EG" sz="3294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(القصة أو المثال):</a:t>
            </a:r>
          </a:p>
          <a:p>
            <a:pPr algn="r" rtl="true" marL="0" indent="0" lvl="0">
              <a:lnSpc>
                <a:spcPts val="4283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12745" y="1009650"/>
            <a:ext cx="1380535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Anatomy of a Script:  </a:t>
            </a:r>
            <a:r>
              <a:rPr lang="ar-EG" sz="6000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  <a:rtl val="true"/>
              </a:rPr>
              <a:t>بنية السكربت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7157631" y="3000903"/>
            <a:ext cx="1130369" cy="113036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323664" y="2985960"/>
            <a:ext cx="798304" cy="97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275"/>
              </a:lnSpc>
            </a:pPr>
            <a:r>
              <a:rPr lang="en-US" b="true" sz="52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157631" y="5302284"/>
            <a:ext cx="1130369" cy="113036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323664" y="5287341"/>
            <a:ext cx="798304" cy="97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1">
              <a:lnSpc>
                <a:spcPts val="8275"/>
              </a:lnSpc>
              <a:spcBef>
                <a:spcPct val="0"/>
              </a:spcBef>
            </a:pPr>
            <a:r>
              <a:rPr lang="en-US" b="true" sz="52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157631" y="8127931"/>
            <a:ext cx="1130369" cy="1130369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46A3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323664" y="8112989"/>
            <a:ext cx="798304" cy="97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1">
              <a:lnSpc>
                <a:spcPts val="8275"/>
              </a:lnSpc>
              <a:spcBef>
                <a:spcPct val="0"/>
              </a:spcBef>
            </a:pPr>
            <a:r>
              <a:rPr lang="en-US" b="true" sz="527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759550" y="5700827"/>
            <a:ext cx="13323945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294"/>
              </a:lnSpc>
            </a:pPr>
            <a:r>
              <a:rPr lang="ar-EG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حددي كيف المشاهد يحس. اختاري نبرة: تحفيزي  أو حزين  أو مرح  أو رسمي </a:t>
            </a:r>
          </a:p>
          <a:p>
            <a:pPr algn="r" rtl="true" marL="0" indent="0" lvl="0">
              <a:lnSpc>
                <a:spcPts val="429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-1384818" y="7717116"/>
            <a:ext cx="13297236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294"/>
              </a:lnSpc>
            </a:pPr>
            <a:r>
              <a:rPr lang="ar-EG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تحولي المشاهد من "يتفرج" → "يعمل". اطلبي فعل واضح</a:t>
            </a:r>
          </a:p>
          <a:p>
            <a:pPr algn="r" rtl="true">
              <a:lnSpc>
                <a:spcPts val="4294"/>
              </a:lnSpc>
            </a:pPr>
            <a:r>
              <a:rPr lang="ar-EG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: </a:t>
            </a:r>
            <a:r>
              <a:rPr lang="en-US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Follow</a:t>
            </a:r>
            <a:r>
              <a:rPr lang="ar-EG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أو </a:t>
            </a:r>
            <a:r>
              <a:rPr lang="en-US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Comment</a:t>
            </a:r>
            <a:r>
              <a:rPr lang="ar-EG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 أو شارك أو جرّب</a:t>
            </a:r>
          </a:p>
          <a:p>
            <a:pPr algn="r" rtl="true" marL="0" indent="0" lvl="0">
              <a:lnSpc>
                <a:spcPts val="4294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-74517" y="3734839"/>
            <a:ext cx="13297236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294"/>
              </a:lnSpc>
            </a:pPr>
            <a:r>
              <a:rPr lang="ar-EG" sz="357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rtl val="true"/>
              </a:rPr>
              <a:t>تخلي الفكرة مقنعة. اختاري قصة قصيرة أو تجربة شخصية أو رقم/إحصائية</a:t>
            </a:r>
          </a:p>
          <a:p>
            <a:pPr algn="r" rtl="true" marL="0" indent="0" lvl="0">
              <a:lnSpc>
                <a:spcPts val="429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564395" y="5622841"/>
            <a:ext cx="4032537" cy="1448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3833"/>
              </a:lnSpc>
            </a:pPr>
            <a:r>
              <a:rPr lang="en-US" sz="2948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Emotion / Tone</a:t>
            </a:r>
            <a:r>
              <a:rPr lang="ar-EG" sz="2948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(الإحساس والنبرة):</a:t>
            </a:r>
          </a:p>
          <a:p>
            <a:pPr algn="r" rtl="true" marL="0" indent="0" lvl="0">
              <a:lnSpc>
                <a:spcPts val="3833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564395" y="7642794"/>
            <a:ext cx="4017425" cy="161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283"/>
              </a:lnSpc>
            </a:pPr>
            <a:r>
              <a:rPr lang="en-US" sz="3294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CTA – Call To Action</a:t>
            </a:r>
            <a:r>
              <a:rPr lang="ar-EG" sz="3294" b="tru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rtl val="true"/>
              </a:rPr>
              <a:t> (الدعوة للفعل):</a:t>
            </a:r>
          </a:p>
          <a:p>
            <a:pPr algn="r" rtl="true" marL="0" indent="0" lvl="0">
              <a:lnSpc>
                <a:spcPts val="42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6601513" cy="11065191"/>
          </a:xfrm>
          <a:custGeom>
            <a:avLst/>
            <a:gdLst/>
            <a:ahLst/>
            <a:cxnLst/>
            <a:rect r="r" b="b" t="t" l="l"/>
            <a:pathLst>
              <a:path h="11065191" w="16601513">
                <a:moveTo>
                  <a:pt x="0" y="0"/>
                </a:moveTo>
                <a:lnTo>
                  <a:pt x="16601513" y="0"/>
                </a:lnTo>
                <a:lnTo>
                  <a:pt x="16601513" y="11065191"/>
                </a:lnTo>
                <a:lnTo>
                  <a:pt x="0" y="11065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3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626917"/>
            <a:ext cx="2349177" cy="4114800"/>
          </a:xfrm>
          <a:custGeom>
            <a:avLst/>
            <a:gdLst/>
            <a:ahLst/>
            <a:cxnLst/>
            <a:rect r="r" b="b" t="t" l="l"/>
            <a:pathLst>
              <a:path h="4114800" w="2349177">
                <a:moveTo>
                  <a:pt x="0" y="0"/>
                </a:moveTo>
                <a:lnTo>
                  <a:pt x="2349177" y="0"/>
                </a:lnTo>
                <a:lnTo>
                  <a:pt x="2349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84712" y="1417795"/>
            <a:ext cx="2349177" cy="4114800"/>
          </a:xfrm>
          <a:custGeom>
            <a:avLst/>
            <a:gdLst/>
            <a:ahLst/>
            <a:cxnLst/>
            <a:rect r="r" b="b" t="t" l="l"/>
            <a:pathLst>
              <a:path h="4114800" w="2349177">
                <a:moveTo>
                  <a:pt x="0" y="0"/>
                </a:moveTo>
                <a:lnTo>
                  <a:pt x="2349176" y="0"/>
                </a:lnTo>
                <a:lnTo>
                  <a:pt x="2349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0765" y="4211670"/>
            <a:ext cx="5758626" cy="4114800"/>
          </a:xfrm>
          <a:custGeom>
            <a:avLst/>
            <a:gdLst/>
            <a:ahLst/>
            <a:cxnLst/>
            <a:rect r="r" b="b" t="t" l="l"/>
            <a:pathLst>
              <a:path h="4114800" w="5758626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9907" y="805749"/>
            <a:ext cx="7804093" cy="161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4"/>
              </a:lnSpc>
              <a:spcBef>
                <a:spcPct val="0"/>
              </a:spcBef>
            </a:pPr>
            <a:r>
              <a:rPr lang="en-US" b="true" sz="10629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Activity time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557" y="3387790"/>
            <a:ext cx="10055185" cy="583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3645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Cold Open Challenge (10–15 min)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Give everyone the same prompt: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“A character wakes up somewhere unexpected”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“Two people meet after years with a secret”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Task: Write just the opening scene (1 paragraph max)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Then read a few aloud and discuss: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Which opening hooks you?</a:t>
            </a:r>
          </a:p>
          <a:p>
            <a:pPr algn="ctr" marL="0" indent="0" lvl="0">
              <a:lnSpc>
                <a:spcPts val="3832"/>
              </a:lnSpc>
              <a:spcBef>
                <a:spcPct val="0"/>
              </a:spcBef>
            </a:pPr>
            <a:r>
              <a:rPr lang="en-US" b="true" sz="3194" strike="noStrike" u="none">
                <a:solidFill>
                  <a:srgbClr val="0D0D0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Why does it work?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3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6818" y="4863174"/>
            <a:ext cx="5325035" cy="4114800"/>
          </a:xfrm>
          <a:custGeom>
            <a:avLst/>
            <a:gdLst/>
            <a:ahLst/>
            <a:cxnLst/>
            <a:rect r="r" b="b" t="t" l="l"/>
            <a:pathLst>
              <a:path h="4114800" w="5325035">
                <a:moveTo>
                  <a:pt x="0" y="0"/>
                </a:moveTo>
                <a:lnTo>
                  <a:pt x="5325036" y="0"/>
                </a:lnTo>
                <a:lnTo>
                  <a:pt x="53250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13964" y="5143500"/>
            <a:ext cx="6905851" cy="5261003"/>
          </a:xfrm>
          <a:custGeom>
            <a:avLst/>
            <a:gdLst/>
            <a:ahLst/>
            <a:cxnLst/>
            <a:rect r="r" b="b" t="t" l="l"/>
            <a:pathLst>
              <a:path h="5261003" w="6905851">
                <a:moveTo>
                  <a:pt x="0" y="0"/>
                </a:moveTo>
                <a:lnTo>
                  <a:pt x="6905851" y="0"/>
                </a:lnTo>
                <a:lnTo>
                  <a:pt x="6905851" y="5261003"/>
                </a:lnTo>
                <a:lnTo>
                  <a:pt x="0" y="5261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07828" y="630041"/>
            <a:ext cx="1898378" cy="797319"/>
          </a:xfrm>
          <a:custGeom>
            <a:avLst/>
            <a:gdLst/>
            <a:ahLst/>
            <a:cxnLst/>
            <a:rect r="r" b="b" t="t" l="l"/>
            <a:pathLst>
              <a:path h="797319" w="1898378">
                <a:moveTo>
                  <a:pt x="0" y="0"/>
                </a:moveTo>
                <a:lnTo>
                  <a:pt x="1898378" y="0"/>
                </a:lnTo>
                <a:lnTo>
                  <a:pt x="1898378" y="797318"/>
                </a:lnTo>
                <a:lnTo>
                  <a:pt x="0" y="7973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66818" y="1492037"/>
            <a:ext cx="6499761" cy="131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14"/>
              </a:lnSpc>
              <a:spcBef>
                <a:spcPct val="0"/>
              </a:spcBef>
            </a:pPr>
            <a:r>
              <a:rPr lang="en-US" b="true" sz="867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Prepared by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0778" y="3651876"/>
            <a:ext cx="5402444" cy="121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2"/>
              </a:lnSpc>
              <a:spcBef>
                <a:spcPct val="0"/>
              </a:spcBef>
            </a:pPr>
            <a:r>
              <a:rPr lang="en-US" b="true" sz="7968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Aya Zahran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DAHIpkEC8Bs</dc:identifier>
  <dcterms:modified xsi:type="dcterms:W3CDTF">2011-08-01T06:04:30Z</dcterms:modified>
  <cp:revision>1</cp:revision>
  <dc:title>sec 1 ميديا</dc:title>
</cp:coreProperties>
</file>